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Bapak/Ibu penguji. Saya [NAMA], NIM [NIM]. Saya akan mempresentasikan Capstone Project Dashboard Indikator Strategis untuk BPS Kabupaten Lombok Tengah. Presentasi ini sekitar dua belas sampai empat belas menit, mencakup masalah, desain, implementasi, pengujian, dan arah integrasi.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bagian ini saya menjelaskan tiga masalah inti. Pertama, akses publik terhadap indikator. Kedua, bagaimana data diusulkan tanpa langsung tampil. Ketiga, kebutuhan review, publikasi, dan audit agar perubahan terkendali.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Solusinya adalah platform digital yang memisahkan akses publik dari ruang kerja internal. Tiga nilai utamanya: akses data, kontrol melalui workflow, dan ketertelusuran melalui audit. Integrasi SSO dan infrastruktur produksi BPS merupakan tahap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proyek ini kami memisahkan pengguna menjadi tiga peran. Publik hanya membaca data published. Operator menyusun usulan. Admin memutuskan publikasi dan memantau audit. Pembatasan ditegakkan di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 memisahkan frontend React dari backend Express. Autentikasi memakai JWT pada cookie HttpOnly. Data published disimpan di Observation, sementara usulan perubahan ada di DataChange.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Pendekatan desain menekankan kejelasan, konsistensi identitas BPS, dan responsivitas. Publik fokus pada keterbacaan data; ruang kerja fokus pada status workflow yang eksplisit.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 yang diimplementasikan mencakup dashboard publik, autentikasi, draft, workflow review, otorisasi server-side, dan audit. Stack aktual: React, Express, Prisma, dan SQLite untuk pengembangan.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Inti keamanan data ada di sini. Selama belum Published, publik tetap melihat nilai lama. Jika ditolak, Operator dapat memperbaiki dan mengajukan ulang. Contoh: penduduk 2020 tetap 1029,03 sampai Admin memublikasikan usulan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otomatis empat puluh empat dari empat puluh empat skenario API lulus. Browser QA enam puluh empat dari enam puluh empat lulus, mencakup publik, login, operator, admin, reject, publish, isolasi publik, dan 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demonstrasi kunci produk. Di kiri, Operator menyusun draft. Di kanan, dashboard publik. Nilai baru baru muncul setelah Admin memublikasikan. Itu bukti isolasi data berfungsi.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membingkai ini sebagai keputusan rekayasa, bukan kelemahan. Autentikasi dan database lokal dipilih agar pengembangan dan demo dapat berjalan sebelum kontrak infrastruktur BPS. Provider seam sudah disiapkan untuk integrasi selanjutnya.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singkat: sistem dibangun, diuji, dan siap untuk integrasi BPS sesuai ruang lingkup yang ditetapkan. Rekomendasi utama adalah SSO, WebAPI, dan infrastruktur produksi. Terima kasih; saya siap menerima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63D28"/>
          </a:solidFill>
          <a:ln/>
        </p:spPr>
      </p:sp>
      <p:sp>
        <p:nvSpPr>
          <p:cNvPr id="3" name="Shape 1"/>
          <p:cNvSpPr/>
          <p:nvPr/>
        </p:nvSpPr>
        <p:spPr>
          <a:xfrm>
            <a:off x="0" y="0"/>
            <a:ext cx="164592" cy="5143500"/>
          </a:xfrm>
          <a:prstGeom prst="rect">
            <a:avLst/>
          </a:prstGeom>
          <a:solidFill>
            <a:srgbClr val="0A5638"/>
          </a:solidFill>
          <a:ln/>
        </p:spPr>
      </p:sp>
      <p:pic>
        <p:nvPicPr>
          <p:cNvPr id="4" name="Image 0" descr="D:\Dashboard Indikator BPS\docs\guide-assets\02-dashboard.png">    </p:cNvPr>
          <p:cNvPicPr>
            <a:picLocks noChangeAspect="1"/>
          </p:cNvPicPr>
          <p:nvPr/>
        </p:nvPicPr>
        <p:blipFill>
          <a:blip r:embed="rId1"/>
          <a:stretch>
            <a:fillRect/>
          </a:stretch>
        </p:blipFill>
        <p:spPr>
          <a:xfrm>
            <a:off x="4937760" y="1005840"/>
            <a:ext cx="3840480" cy="2148840"/>
          </a:xfrm>
          <a:prstGeom prst="rect">
            <a:avLst/>
          </a:prstGeom>
        </p:spPr>
      </p:pic>
      <p:sp>
        <p:nvSpPr>
          <p:cNvPr id="5" name="Shape 2"/>
          <p:cNvSpPr/>
          <p:nvPr/>
        </p:nvSpPr>
        <p:spPr>
          <a:xfrm>
            <a:off x="4937760" y="1005840"/>
            <a:ext cx="3840480" cy="2148840"/>
          </a:xfrm>
          <a:prstGeom prst="rect">
            <a:avLst/>
          </a:prstGeom>
          <a:ln w="12700">
            <a:solidFill>
              <a:srgbClr val="2A6B4E"/>
            </a:solidFill>
            <a:prstDash val="solid"/>
          </a:ln>
        </p:spPr>
      </p:sp>
      <p:sp>
        <p:nvSpPr>
          <p:cNvPr id="6" name="Text 3"/>
          <p:cNvSpPr/>
          <p:nvPr/>
        </p:nvSpPr>
        <p:spPr>
          <a:xfrm>
            <a:off x="502920" y="822960"/>
            <a:ext cx="4206240" cy="274320"/>
          </a:xfrm>
          <a:prstGeom prst="rect">
            <a:avLst/>
          </a:prstGeom>
          <a:noFill/>
          <a:ln/>
        </p:spPr>
        <p:txBody>
          <a:bodyPr wrap="square" rtlCol="0" anchor="ctr"/>
          <a:lstStyle/>
          <a:p>
            <a:pPr indent="0" marL="0">
              <a:buNone/>
            </a:pPr>
            <a:r>
              <a:rPr lang="en-US" sz="1200" b="1" dirty="0">
                <a:solidFill>
                  <a:srgbClr val="A8C9B8"/>
                </a:solidFill>
                <a:latin typeface="Calibri" pitchFamily="34" charset="0"/>
                <a:ea typeface="Calibri" pitchFamily="34" charset="-122"/>
                <a:cs typeface="Calibri" pitchFamily="34" charset="-120"/>
              </a:rPr>
              <a:t>CAPSTONE PROJECT</a:t>
            </a:r>
            <a:endParaRPr lang="en-US" sz="1200" dirty="0"/>
          </a:p>
        </p:txBody>
      </p:sp>
      <p:sp>
        <p:nvSpPr>
          <p:cNvPr id="7" name="Text 4"/>
          <p:cNvSpPr/>
          <p:nvPr/>
        </p:nvSpPr>
        <p:spPr>
          <a:xfrm>
            <a:off x="502920" y="1234440"/>
            <a:ext cx="4389120" cy="1920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DASHBOARD</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INDIKATOR</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STRATEGIS</a:t>
            </a:r>
            <a:endParaRPr lang="en-US" sz="3400" dirty="0"/>
          </a:p>
        </p:txBody>
      </p:sp>
      <p:sp>
        <p:nvSpPr>
          <p:cNvPr id="8" name="Text 5"/>
          <p:cNvSpPr/>
          <p:nvPr/>
        </p:nvSpPr>
        <p:spPr>
          <a:xfrm>
            <a:off x="502920" y="3291840"/>
            <a:ext cx="4389120" cy="320040"/>
          </a:xfrm>
          <a:prstGeom prst="rect">
            <a:avLst/>
          </a:prstGeom>
          <a:noFill/>
          <a:ln/>
        </p:spPr>
        <p:txBody>
          <a:bodyPr wrap="square" rtlCol="0" anchor="ctr"/>
          <a:lstStyle/>
          <a:p>
            <a:pPr indent="0" marL="0">
              <a:buNone/>
            </a:pPr>
            <a:r>
              <a:rPr lang="en-US" sz="1400" dirty="0">
                <a:solidFill>
                  <a:srgbClr val="D7EBE1"/>
                </a:solidFill>
                <a:latin typeface="Calibri" pitchFamily="34" charset="0"/>
                <a:ea typeface="Calibri" pitchFamily="34" charset="-122"/>
                <a:cs typeface="Calibri" pitchFamily="34" charset="-120"/>
              </a:rPr>
              <a:t>BPS KABUPATEN LOMBOK TENGAH</a:t>
            </a:r>
            <a:endParaRPr lang="en-US" sz="1400" dirty="0"/>
          </a:p>
        </p:txBody>
      </p:sp>
      <p:sp>
        <p:nvSpPr>
          <p:cNvPr id="9" name="Text 6"/>
          <p:cNvSpPr/>
          <p:nvPr/>
        </p:nvSpPr>
        <p:spPr>
          <a:xfrm>
            <a:off x="502920" y="3977640"/>
            <a:ext cx="7772400" cy="548640"/>
          </a:xfrm>
          <a:prstGeom prst="rect">
            <a:avLst/>
          </a:prstGeom>
          <a:noFill/>
          <a:ln/>
        </p:spPr>
        <p:txBody>
          <a:bodyPr wrap="square" rtlCol="0" anchor="ctr"/>
          <a:lstStyle/>
          <a:p>
            <a:pPr indent="0" marL="0">
              <a:buNone/>
            </a:pPr>
            <a:r>
              <a:rPr lang="en-US" sz="1300" dirty="0">
                <a:solidFill>
                  <a:srgbClr val="B7D4C6"/>
                </a:solidFill>
                <a:latin typeface="Calibri" pitchFamily="34" charset="0"/>
                <a:ea typeface="Calibri" pitchFamily="34" charset="-122"/>
                <a:cs typeface="Calibri" pitchFamily="34" charset="-120"/>
              </a:rPr>
              <a:t>[NAMA MAHASISWA]  ·  NIM [NIM]</a:t>
            </a:r>
            <a:endParaRPr lang="en-US" sz="1300" dirty="0"/>
          </a:p>
          <a:p>
            <a:pPr indent="0" marL="0">
              <a:buNone/>
            </a:pPr>
            <a:r>
              <a:rPr lang="en-US" sz="1300" dirty="0">
                <a:solidFill>
                  <a:srgbClr val="B7D4C6"/>
                </a:solidFill>
                <a:latin typeface="Calibri" pitchFamily="34" charset="0"/>
                <a:ea typeface="Calibri" pitchFamily="34" charset="-122"/>
                <a:cs typeface="Calibri" pitchFamily="34" charset="-120"/>
              </a:rPr>
              <a:t>Teknik Informatika  ·  STMIK Lombok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02  /  MASALAH</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02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The Problem</a:t>
            </a:r>
            <a:endParaRPr lang="en-US" sz="2600" dirty="0"/>
          </a:p>
        </p:txBody>
      </p:sp>
      <p:sp>
        <p:nvSpPr>
          <p:cNvPr id="8" name="Text 6"/>
          <p:cNvSpPr/>
          <p:nvPr/>
        </p:nvSpPr>
        <p:spPr>
          <a:xfrm>
            <a:off x="457200" y="1051560"/>
            <a:ext cx="822960" cy="411480"/>
          </a:xfrm>
          <a:prstGeom prst="rect">
            <a:avLst/>
          </a:prstGeom>
          <a:noFill/>
          <a:ln/>
        </p:spPr>
        <p:txBody>
          <a:bodyPr wrap="square" rtlCol="0" anchor="ctr"/>
          <a:lstStyle/>
          <a:p>
            <a:pPr indent="0" marL="0">
              <a:buNone/>
            </a:pPr>
            <a:r>
              <a:rPr lang="en-US" sz="2200" b="1" dirty="0">
                <a:solidFill>
                  <a:srgbClr val="0A5638"/>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1371600" y="1051560"/>
            <a:ext cx="7132320" cy="320040"/>
          </a:xfrm>
          <a:prstGeom prst="rect">
            <a:avLst/>
          </a:prstGeom>
          <a:noFill/>
          <a:ln/>
        </p:spPr>
        <p:txBody>
          <a:bodyPr wrap="square" rtlCol="0" anchor="ctr"/>
          <a:lstStyle/>
          <a:p>
            <a:pPr indent="0" marL="0">
              <a:buNone/>
            </a:pPr>
            <a:r>
              <a:rPr lang="en-US" sz="1800" b="1" dirty="0">
                <a:solidFill>
                  <a:srgbClr val="1C2421"/>
                </a:solidFill>
                <a:latin typeface="Calibri" pitchFamily="34" charset="0"/>
                <a:ea typeface="Calibri" pitchFamily="34" charset="-122"/>
                <a:cs typeface="Calibri" pitchFamily="34" charset="-120"/>
              </a:rPr>
              <a:t>Akses indikator</a:t>
            </a:r>
            <a:endParaRPr lang="en-US" sz="1800" dirty="0"/>
          </a:p>
        </p:txBody>
      </p:sp>
      <p:sp>
        <p:nvSpPr>
          <p:cNvPr id="10" name="Text 8"/>
          <p:cNvSpPr/>
          <p:nvPr/>
        </p:nvSpPr>
        <p:spPr>
          <a:xfrm>
            <a:off x="1371600" y="1417320"/>
            <a:ext cx="7132320" cy="411480"/>
          </a:xfrm>
          <a:prstGeom prst="rect">
            <a:avLst/>
          </a:prstGeom>
          <a:noFill/>
          <a:ln/>
        </p:spPr>
        <p:txBody>
          <a:bodyPr wrap="square" rtlCol="0" anchor="ctr"/>
          <a:lstStyle/>
          <a:p>
            <a:pPr indent="0" marL="0">
              <a:buNone/>
            </a:pPr>
            <a:r>
              <a:rPr lang="en-US" sz="1400" dirty="0">
                <a:solidFill>
                  <a:srgbClr val="5A6B62"/>
                </a:solidFill>
                <a:latin typeface="Calibri" pitchFamily="34" charset="0"/>
                <a:ea typeface="Calibri" pitchFamily="34" charset="-122"/>
                <a:cs typeface="Calibri" pitchFamily="34" charset="-120"/>
              </a:rPr>
              <a:t>Publik membutuhkan cara mudah melihat, memfilter, dan mengekspor indikator strategis.</a:t>
            </a:r>
            <a:endParaRPr lang="en-US" sz="1400" dirty="0"/>
          </a:p>
        </p:txBody>
      </p:sp>
      <p:sp>
        <p:nvSpPr>
          <p:cNvPr id="11" name="Text 9"/>
          <p:cNvSpPr/>
          <p:nvPr/>
        </p:nvSpPr>
        <p:spPr>
          <a:xfrm>
            <a:off x="457200" y="2148840"/>
            <a:ext cx="822960" cy="411480"/>
          </a:xfrm>
          <a:prstGeom prst="rect">
            <a:avLst/>
          </a:prstGeom>
          <a:noFill/>
          <a:ln/>
        </p:spPr>
        <p:txBody>
          <a:bodyPr wrap="square" rtlCol="0" anchor="ctr"/>
          <a:lstStyle/>
          <a:p>
            <a:pPr indent="0" marL="0">
              <a:buNone/>
            </a:pPr>
            <a:r>
              <a:rPr lang="en-US" sz="2200" b="1" dirty="0">
                <a:solidFill>
                  <a:srgbClr val="0A5638"/>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1371600" y="2148840"/>
            <a:ext cx="7132320" cy="320040"/>
          </a:xfrm>
          <a:prstGeom prst="rect">
            <a:avLst/>
          </a:prstGeom>
          <a:noFill/>
          <a:ln/>
        </p:spPr>
        <p:txBody>
          <a:bodyPr wrap="square" rtlCol="0" anchor="ctr"/>
          <a:lstStyle/>
          <a:p>
            <a:pPr indent="0" marL="0">
              <a:buNone/>
            </a:pPr>
            <a:r>
              <a:rPr lang="en-US" sz="1800" b="1" dirty="0">
                <a:solidFill>
                  <a:srgbClr val="1C2421"/>
                </a:solidFill>
                <a:latin typeface="Calibri" pitchFamily="34" charset="0"/>
                <a:ea typeface="Calibri" pitchFamily="34" charset="-122"/>
                <a:cs typeface="Calibri" pitchFamily="34" charset="-120"/>
              </a:rPr>
              <a:t>Pemutakhiran data</a:t>
            </a:r>
            <a:endParaRPr lang="en-US" sz="1800" dirty="0"/>
          </a:p>
        </p:txBody>
      </p:sp>
      <p:sp>
        <p:nvSpPr>
          <p:cNvPr id="13" name="Text 11"/>
          <p:cNvSpPr/>
          <p:nvPr/>
        </p:nvSpPr>
        <p:spPr>
          <a:xfrm>
            <a:off x="1371600" y="2514600"/>
            <a:ext cx="7132320" cy="411480"/>
          </a:xfrm>
          <a:prstGeom prst="rect">
            <a:avLst/>
          </a:prstGeom>
          <a:noFill/>
          <a:ln/>
        </p:spPr>
        <p:txBody>
          <a:bodyPr wrap="square" rtlCol="0" anchor="ctr"/>
          <a:lstStyle/>
          <a:p>
            <a:pPr indent="0" marL="0">
              <a:buNone/>
            </a:pPr>
            <a:r>
              <a:rPr lang="en-US" sz="1400" dirty="0">
                <a:solidFill>
                  <a:srgbClr val="5A6B62"/>
                </a:solidFill>
                <a:latin typeface="Calibri" pitchFamily="34" charset="0"/>
                <a:ea typeface="Calibri" pitchFamily="34" charset="-122"/>
                <a:cs typeface="Calibri" pitchFamily="34" charset="-120"/>
              </a:rPr>
              <a:t>Perubahan nilai harus dapat diusulkan secara terstruktur tanpa langsung mengubah data publik.</a:t>
            </a:r>
            <a:endParaRPr lang="en-US" sz="1400" dirty="0"/>
          </a:p>
        </p:txBody>
      </p:sp>
      <p:sp>
        <p:nvSpPr>
          <p:cNvPr id="14" name="Text 12"/>
          <p:cNvSpPr/>
          <p:nvPr/>
        </p:nvSpPr>
        <p:spPr>
          <a:xfrm>
            <a:off x="457200" y="3246120"/>
            <a:ext cx="822960" cy="411480"/>
          </a:xfrm>
          <a:prstGeom prst="rect">
            <a:avLst/>
          </a:prstGeom>
          <a:noFill/>
          <a:ln/>
        </p:spPr>
        <p:txBody>
          <a:bodyPr wrap="square" rtlCol="0" anchor="ctr"/>
          <a:lstStyle/>
          <a:p>
            <a:pPr indent="0" marL="0">
              <a:buNone/>
            </a:pPr>
            <a:r>
              <a:rPr lang="en-US" sz="2200" b="1" dirty="0">
                <a:solidFill>
                  <a:srgbClr val="0A5638"/>
                </a:solidFill>
                <a:latin typeface="Calibri" pitchFamily="34" charset="0"/>
                <a:ea typeface="Calibri" pitchFamily="34" charset="-122"/>
                <a:cs typeface="Calibri" pitchFamily="34" charset="-120"/>
              </a:rPr>
              <a:t>03</a:t>
            </a:r>
            <a:endParaRPr lang="en-US" sz="2200" dirty="0"/>
          </a:p>
        </p:txBody>
      </p:sp>
      <p:sp>
        <p:nvSpPr>
          <p:cNvPr id="15" name="Text 13"/>
          <p:cNvSpPr/>
          <p:nvPr/>
        </p:nvSpPr>
        <p:spPr>
          <a:xfrm>
            <a:off x="1371600" y="3246120"/>
            <a:ext cx="7132320" cy="320040"/>
          </a:xfrm>
          <a:prstGeom prst="rect">
            <a:avLst/>
          </a:prstGeom>
          <a:noFill/>
          <a:ln/>
        </p:spPr>
        <p:txBody>
          <a:bodyPr wrap="square" rtlCol="0" anchor="ctr"/>
          <a:lstStyle/>
          <a:p>
            <a:pPr indent="0" marL="0">
              <a:buNone/>
            </a:pPr>
            <a:r>
              <a:rPr lang="en-US" sz="1800" b="1" dirty="0">
                <a:solidFill>
                  <a:srgbClr val="1C2421"/>
                </a:solidFill>
                <a:latin typeface="Calibri" pitchFamily="34" charset="0"/>
                <a:ea typeface="Calibri" pitchFamily="34" charset="-122"/>
                <a:cs typeface="Calibri" pitchFamily="34" charset="-120"/>
              </a:rPr>
              <a:t>Review &amp; publication</a:t>
            </a:r>
            <a:endParaRPr lang="en-US" sz="1800" dirty="0"/>
          </a:p>
        </p:txBody>
      </p:sp>
      <p:sp>
        <p:nvSpPr>
          <p:cNvPr id="16" name="Text 14"/>
          <p:cNvSpPr/>
          <p:nvPr/>
        </p:nvSpPr>
        <p:spPr>
          <a:xfrm>
            <a:off x="1371600" y="3611880"/>
            <a:ext cx="7132320" cy="411480"/>
          </a:xfrm>
          <a:prstGeom prst="rect">
            <a:avLst/>
          </a:prstGeom>
          <a:noFill/>
          <a:ln/>
        </p:spPr>
        <p:txBody>
          <a:bodyPr wrap="square" rtlCol="0" anchor="ctr"/>
          <a:lstStyle/>
          <a:p>
            <a:pPr indent="0" marL="0">
              <a:buNone/>
            </a:pPr>
            <a:r>
              <a:rPr lang="en-US" sz="1400" dirty="0">
                <a:solidFill>
                  <a:srgbClr val="5A6B62"/>
                </a:solidFill>
                <a:latin typeface="Calibri" pitchFamily="34" charset="0"/>
                <a:ea typeface="Calibri" pitchFamily="34" charset="-122"/>
                <a:cs typeface="Calibri" pitchFamily="34" charset="-120"/>
              </a:rPr>
              <a:t>Diperlukan peninjauan, penolakan, publikasi, serta jejak audit sebelum data resmi berubah.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03  /  SOLUSI</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03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Solution Overview</a:t>
            </a:r>
            <a:endParaRPr lang="en-US" sz="2600" dirty="0"/>
          </a:p>
        </p:txBody>
      </p:sp>
      <p:sp>
        <p:nvSpPr>
          <p:cNvPr id="8" name="Shape 6"/>
          <p:cNvSpPr/>
          <p:nvPr/>
        </p:nvSpPr>
        <p:spPr>
          <a:xfrm>
            <a:off x="457200" y="1097280"/>
            <a:ext cx="2697480" cy="1371600"/>
          </a:xfrm>
          <a:prstGeom prst="roundRect">
            <a:avLst>
              <a:gd name="adj" fmla="val 5333"/>
            </a:avLst>
          </a:prstGeom>
          <a:solidFill>
            <a:srgbClr val="FFFFFF"/>
          </a:solidFill>
          <a:ln w="12700">
            <a:solidFill>
              <a:srgbClr val="D5E0D9"/>
            </a:solidFill>
            <a:prstDash val="solid"/>
          </a:ln>
        </p:spPr>
      </p:sp>
      <p:sp>
        <p:nvSpPr>
          <p:cNvPr id="9" name="Text 7"/>
          <p:cNvSpPr/>
          <p:nvPr/>
        </p:nvSpPr>
        <p:spPr>
          <a:xfrm>
            <a:off x="457200" y="1325880"/>
            <a:ext cx="2697480" cy="320040"/>
          </a:xfrm>
          <a:prstGeom prst="rect">
            <a:avLst/>
          </a:prstGeom>
          <a:noFill/>
          <a:ln/>
        </p:spPr>
        <p:txBody>
          <a:bodyPr wrap="square" rtlCol="0" anchor="ctr"/>
          <a:lstStyle/>
          <a:p>
            <a:pPr algn="ctr" indent="0" marL="0">
              <a:buNone/>
            </a:pPr>
            <a:r>
              <a:rPr lang="en-US" sz="1400" b="1" dirty="0">
                <a:solidFill>
                  <a:srgbClr val="0A5638"/>
                </a:solidFill>
                <a:latin typeface="Calibri" pitchFamily="34" charset="0"/>
                <a:ea typeface="Calibri" pitchFamily="34" charset="-122"/>
                <a:cs typeface="Calibri" pitchFamily="34" charset="-120"/>
              </a:rPr>
              <a:t>PROBLEM</a:t>
            </a:r>
            <a:endParaRPr lang="en-US" sz="1400" dirty="0"/>
          </a:p>
        </p:txBody>
      </p:sp>
      <p:sp>
        <p:nvSpPr>
          <p:cNvPr id="10" name="Text 8"/>
          <p:cNvSpPr/>
          <p:nvPr/>
        </p:nvSpPr>
        <p:spPr>
          <a:xfrm>
            <a:off x="594360" y="1783080"/>
            <a:ext cx="2423160" cy="41148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Akses + kontrol data</a:t>
            </a:r>
            <a:endParaRPr lang="en-US" sz="1300" dirty="0"/>
          </a:p>
        </p:txBody>
      </p:sp>
      <p:sp>
        <p:nvSpPr>
          <p:cNvPr id="11" name="Shape 9"/>
          <p:cNvSpPr/>
          <p:nvPr/>
        </p:nvSpPr>
        <p:spPr>
          <a:xfrm>
            <a:off x="3337560" y="1097280"/>
            <a:ext cx="2697480" cy="1371600"/>
          </a:xfrm>
          <a:prstGeom prst="roundRect">
            <a:avLst>
              <a:gd name="adj" fmla="val 5333"/>
            </a:avLst>
          </a:prstGeom>
          <a:solidFill>
            <a:srgbClr val="0A5638"/>
          </a:solidFill>
          <a:ln w="12700">
            <a:solidFill>
              <a:srgbClr val="D5E0D9"/>
            </a:solidFill>
            <a:prstDash val="solid"/>
          </a:ln>
        </p:spPr>
      </p:sp>
      <p:sp>
        <p:nvSpPr>
          <p:cNvPr id="12" name="Text 10"/>
          <p:cNvSpPr/>
          <p:nvPr/>
        </p:nvSpPr>
        <p:spPr>
          <a:xfrm>
            <a:off x="3337560" y="1325880"/>
            <a:ext cx="269748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PLATFORM</a:t>
            </a:r>
            <a:endParaRPr lang="en-US" sz="1400" dirty="0"/>
          </a:p>
        </p:txBody>
      </p:sp>
      <p:sp>
        <p:nvSpPr>
          <p:cNvPr id="13" name="Text 11"/>
          <p:cNvSpPr/>
          <p:nvPr/>
        </p:nvSpPr>
        <p:spPr>
          <a:xfrm>
            <a:off x="3474720" y="1783080"/>
            <a:ext cx="2423160" cy="411480"/>
          </a:xfrm>
          <a:prstGeom prst="rect">
            <a:avLst/>
          </a:prstGeom>
          <a:noFill/>
          <a:ln/>
        </p:spPr>
        <p:txBody>
          <a:bodyPr wrap="square" rtlCol="0" anchor="ctr"/>
          <a:lstStyle/>
          <a:p>
            <a:pPr algn="ctr" indent="0" marL="0">
              <a:buNone/>
            </a:pPr>
            <a:r>
              <a:rPr lang="en-US" sz="1300" dirty="0">
                <a:solidFill>
                  <a:srgbClr val="D7EBE1"/>
                </a:solidFill>
                <a:latin typeface="Calibri" pitchFamily="34" charset="0"/>
                <a:ea typeface="Calibri" pitchFamily="34" charset="-122"/>
                <a:cs typeface="Calibri" pitchFamily="34" charset="-120"/>
              </a:rPr>
              <a:t>Dashboard full-stack</a:t>
            </a:r>
            <a:endParaRPr lang="en-US" sz="1300" dirty="0"/>
          </a:p>
        </p:txBody>
      </p:sp>
      <p:sp>
        <p:nvSpPr>
          <p:cNvPr id="14" name="Shape 12"/>
          <p:cNvSpPr/>
          <p:nvPr/>
        </p:nvSpPr>
        <p:spPr>
          <a:xfrm>
            <a:off x="6217920" y="1097280"/>
            <a:ext cx="2697480" cy="1371600"/>
          </a:xfrm>
          <a:prstGeom prst="roundRect">
            <a:avLst>
              <a:gd name="adj" fmla="val 5333"/>
            </a:avLst>
          </a:prstGeom>
          <a:solidFill>
            <a:srgbClr val="FFFFFF"/>
          </a:solidFill>
          <a:ln w="12700">
            <a:solidFill>
              <a:srgbClr val="D5E0D9"/>
            </a:solidFill>
            <a:prstDash val="solid"/>
          </a:ln>
        </p:spPr>
      </p:sp>
      <p:sp>
        <p:nvSpPr>
          <p:cNvPr id="15" name="Text 13"/>
          <p:cNvSpPr/>
          <p:nvPr/>
        </p:nvSpPr>
        <p:spPr>
          <a:xfrm>
            <a:off x="6217920" y="1325880"/>
            <a:ext cx="2697480" cy="320040"/>
          </a:xfrm>
          <a:prstGeom prst="rect">
            <a:avLst/>
          </a:prstGeom>
          <a:noFill/>
          <a:ln/>
        </p:spPr>
        <p:txBody>
          <a:bodyPr wrap="square" rtlCol="0" anchor="ctr"/>
          <a:lstStyle/>
          <a:p>
            <a:pPr algn="ctr" indent="0" marL="0">
              <a:buNone/>
            </a:pPr>
            <a:r>
              <a:rPr lang="en-US" sz="1400" b="1" dirty="0">
                <a:solidFill>
                  <a:srgbClr val="0A5638"/>
                </a:solidFill>
                <a:latin typeface="Calibri" pitchFamily="34" charset="0"/>
                <a:ea typeface="Calibri" pitchFamily="34" charset="-122"/>
                <a:cs typeface="Calibri" pitchFamily="34" charset="-120"/>
              </a:rPr>
              <a:t>USERS</a:t>
            </a:r>
            <a:endParaRPr lang="en-US" sz="1400" dirty="0"/>
          </a:p>
        </p:txBody>
      </p:sp>
      <p:sp>
        <p:nvSpPr>
          <p:cNvPr id="16" name="Text 14"/>
          <p:cNvSpPr/>
          <p:nvPr/>
        </p:nvSpPr>
        <p:spPr>
          <a:xfrm>
            <a:off x="6355080" y="1783080"/>
            <a:ext cx="2423160" cy="41148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Publik · Operator · Admin</a:t>
            </a:r>
            <a:endParaRPr lang="en-US" sz="1300" dirty="0"/>
          </a:p>
        </p:txBody>
      </p:sp>
      <p:sp>
        <p:nvSpPr>
          <p:cNvPr id="17" name="Text 15"/>
          <p:cNvSpPr/>
          <p:nvPr/>
        </p:nvSpPr>
        <p:spPr>
          <a:xfrm>
            <a:off x="457200" y="2926080"/>
            <a:ext cx="2697480" cy="320040"/>
          </a:xfrm>
          <a:prstGeom prst="rect">
            <a:avLst/>
          </a:prstGeom>
          <a:noFill/>
          <a:ln/>
        </p:spPr>
        <p:txBody>
          <a:bodyPr wrap="square" rtlCol="0" anchor="ctr"/>
          <a:lstStyle/>
          <a:p>
            <a:pPr algn="ctr" indent="0" marL="0">
              <a:buNone/>
            </a:pPr>
            <a:r>
              <a:rPr lang="en-US" sz="1600" b="1" dirty="0">
                <a:solidFill>
                  <a:srgbClr val="0A5638"/>
                </a:solidFill>
                <a:latin typeface="Calibri" pitchFamily="34" charset="0"/>
                <a:ea typeface="Calibri" pitchFamily="34" charset="-122"/>
                <a:cs typeface="Calibri" pitchFamily="34" charset="-120"/>
              </a:rPr>
              <a:t>ACCESS</a:t>
            </a:r>
            <a:endParaRPr lang="en-US" sz="1600" dirty="0"/>
          </a:p>
        </p:txBody>
      </p:sp>
      <p:sp>
        <p:nvSpPr>
          <p:cNvPr id="18" name="Text 16"/>
          <p:cNvSpPr/>
          <p:nvPr/>
        </p:nvSpPr>
        <p:spPr>
          <a:xfrm>
            <a:off x="457200" y="3246120"/>
            <a:ext cx="2697480" cy="27432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Dashboard publik</a:t>
            </a:r>
            <a:endParaRPr lang="en-US" sz="1300" dirty="0"/>
          </a:p>
        </p:txBody>
      </p:sp>
      <p:sp>
        <p:nvSpPr>
          <p:cNvPr id="19" name="Text 17"/>
          <p:cNvSpPr/>
          <p:nvPr/>
        </p:nvSpPr>
        <p:spPr>
          <a:xfrm>
            <a:off x="3337560" y="2926080"/>
            <a:ext cx="2697480" cy="320040"/>
          </a:xfrm>
          <a:prstGeom prst="rect">
            <a:avLst/>
          </a:prstGeom>
          <a:noFill/>
          <a:ln/>
        </p:spPr>
        <p:txBody>
          <a:bodyPr wrap="square" rtlCol="0" anchor="ctr"/>
          <a:lstStyle/>
          <a:p>
            <a:pPr algn="ctr" indent="0" marL="0">
              <a:buNone/>
            </a:pPr>
            <a:r>
              <a:rPr lang="en-US" sz="1600" b="1" dirty="0">
                <a:solidFill>
                  <a:srgbClr val="0A5638"/>
                </a:solidFill>
                <a:latin typeface="Calibri" pitchFamily="34" charset="0"/>
                <a:ea typeface="Calibri" pitchFamily="34" charset="-122"/>
                <a:cs typeface="Calibri" pitchFamily="34" charset="-120"/>
              </a:rPr>
              <a:t>CONTROL</a:t>
            </a:r>
            <a:endParaRPr lang="en-US" sz="1600" dirty="0"/>
          </a:p>
        </p:txBody>
      </p:sp>
      <p:sp>
        <p:nvSpPr>
          <p:cNvPr id="20" name="Text 18"/>
          <p:cNvSpPr/>
          <p:nvPr/>
        </p:nvSpPr>
        <p:spPr>
          <a:xfrm>
            <a:off x="3337560" y="3246120"/>
            <a:ext cx="2697480" cy="27432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Workflow review</a:t>
            </a:r>
            <a:endParaRPr lang="en-US" sz="1300" dirty="0"/>
          </a:p>
        </p:txBody>
      </p:sp>
      <p:sp>
        <p:nvSpPr>
          <p:cNvPr id="21" name="Text 19"/>
          <p:cNvSpPr/>
          <p:nvPr/>
        </p:nvSpPr>
        <p:spPr>
          <a:xfrm>
            <a:off x="6217920" y="2926080"/>
            <a:ext cx="2697480" cy="320040"/>
          </a:xfrm>
          <a:prstGeom prst="rect">
            <a:avLst/>
          </a:prstGeom>
          <a:noFill/>
          <a:ln/>
        </p:spPr>
        <p:txBody>
          <a:bodyPr wrap="square" rtlCol="0" anchor="ctr"/>
          <a:lstStyle/>
          <a:p>
            <a:pPr algn="ctr" indent="0" marL="0">
              <a:buNone/>
            </a:pPr>
            <a:r>
              <a:rPr lang="en-US" sz="1600" b="1" dirty="0">
                <a:solidFill>
                  <a:srgbClr val="0A5638"/>
                </a:solidFill>
                <a:latin typeface="Calibri" pitchFamily="34" charset="0"/>
                <a:ea typeface="Calibri" pitchFamily="34" charset="-122"/>
                <a:cs typeface="Calibri" pitchFamily="34" charset="-120"/>
              </a:rPr>
              <a:t>TRACEABILITY</a:t>
            </a:r>
            <a:endParaRPr lang="en-US" sz="1600" dirty="0"/>
          </a:p>
        </p:txBody>
      </p:sp>
      <p:sp>
        <p:nvSpPr>
          <p:cNvPr id="22" name="Text 20"/>
          <p:cNvSpPr/>
          <p:nvPr/>
        </p:nvSpPr>
        <p:spPr>
          <a:xfrm>
            <a:off x="6217920" y="3246120"/>
            <a:ext cx="2697480" cy="27432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Audit trail</a:t>
            </a:r>
            <a:endParaRPr lang="en-US" sz="1300" dirty="0"/>
          </a:p>
        </p:txBody>
      </p:sp>
      <p:sp>
        <p:nvSpPr>
          <p:cNvPr id="23" name="Text 21"/>
          <p:cNvSpPr/>
          <p:nvPr/>
        </p:nvSpPr>
        <p:spPr>
          <a:xfrm>
            <a:off x="457200" y="3977640"/>
            <a:ext cx="8229600" cy="320040"/>
          </a:xfrm>
          <a:prstGeom prst="rect">
            <a:avLst/>
          </a:prstGeom>
          <a:noFill/>
          <a:ln/>
        </p:spPr>
        <p:txBody>
          <a:bodyPr wrap="square" rtlCol="0" anchor="ctr"/>
          <a:lstStyle/>
          <a:p>
            <a:pPr indent="0" marL="0">
              <a:buNone/>
            </a:pPr>
            <a:r>
              <a:rPr lang="en-US" sz="1200" dirty="0">
                <a:solidFill>
                  <a:srgbClr val="5A6B62"/>
                </a:solidFill>
                <a:latin typeface="Calibri" pitchFamily="34" charset="0"/>
                <a:ea typeface="Calibri" pitchFamily="34" charset="-122"/>
                <a:cs typeface="Calibri" pitchFamily="34" charset="-120"/>
              </a:rPr>
              <a:t>Scope lanjutan BPS: SSO · WebAPI · hosting produksi — belum termasuk.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04  /  ANALISIS</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04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Analisis Kebutuhan</a:t>
            </a:r>
            <a:endParaRPr lang="en-US" sz="2600" dirty="0"/>
          </a:p>
        </p:txBody>
      </p:sp>
      <p:sp>
        <p:nvSpPr>
          <p:cNvPr id="8" name="Shape 6"/>
          <p:cNvSpPr/>
          <p:nvPr/>
        </p:nvSpPr>
        <p:spPr>
          <a:xfrm>
            <a:off x="502920" y="1143000"/>
            <a:ext cx="2651760" cy="2926080"/>
          </a:xfrm>
          <a:prstGeom prst="roundRect">
            <a:avLst>
              <a:gd name="adj" fmla="val 3448"/>
            </a:avLst>
          </a:prstGeom>
          <a:solidFill>
            <a:srgbClr val="FFFFFF"/>
          </a:solidFill>
          <a:ln w="12700">
            <a:solidFill>
              <a:srgbClr val="D5E0D9"/>
            </a:solidFill>
            <a:prstDash val="solid"/>
          </a:ln>
        </p:spPr>
      </p:sp>
      <p:sp>
        <p:nvSpPr>
          <p:cNvPr id="9" name="Text 7"/>
          <p:cNvSpPr/>
          <p:nvPr/>
        </p:nvSpPr>
        <p:spPr>
          <a:xfrm>
            <a:off x="502920" y="1417320"/>
            <a:ext cx="2651760" cy="365760"/>
          </a:xfrm>
          <a:prstGeom prst="rect">
            <a:avLst/>
          </a:prstGeom>
          <a:noFill/>
          <a:ln/>
        </p:spPr>
        <p:txBody>
          <a:bodyPr wrap="square" rtlCol="0" anchor="ctr"/>
          <a:lstStyle/>
          <a:p>
            <a:pPr algn="ctr" indent="0" marL="0">
              <a:buNone/>
            </a:pPr>
            <a:r>
              <a:rPr lang="en-US" sz="1600" b="1" dirty="0">
                <a:solidFill>
                  <a:srgbClr val="0A5638"/>
                </a:solidFill>
                <a:latin typeface="Calibri" pitchFamily="34" charset="0"/>
                <a:ea typeface="Calibri" pitchFamily="34" charset="-122"/>
                <a:cs typeface="Calibri" pitchFamily="34" charset="-120"/>
              </a:rPr>
              <a:t>PUBLIK</a:t>
            </a:r>
            <a:endParaRPr lang="en-US" sz="1600" dirty="0"/>
          </a:p>
        </p:txBody>
      </p:sp>
      <p:sp>
        <p:nvSpPr>
          <p:cNvPr id="10" name="Text 8"/>
          <p:cNvSpPr/>
          <p:nvPr/>
        </p:nvSpPr>
        <p:spPr>
          <a:xfrm>
            <a:off x="685800" y="2103120"/>
            <a:ext cx="2286000" cy="1463040"/>
          </a:xfrm>
          <a:prstGeom prst="rect">
            <a:avLst/>
          </a:prstGeom>
          <a:noFill/>
          <a:ln/>
        </p:spPr>
        <p:txBody>
          <a:bodyPr wrap="square" rtlCol="0" anchor="ctr"/>
          <a:lstStyle/>
          <a:p>
            <a:pPr algn="ctr" indent="0" marL="0">
              <a:buNone/>
            </a:pPr>
            <a:r>
              <a:rPr lang="en-US" sz="1500" dirty="0">
                <a:solidFill>
                  <a:srgbClr val="1C2421"/>
                </a:solidFill>
                <a:latin typeface="Calibri" pitchFamily="34" charset="0"/>
                <a:ea typeface="Calibri" pitchFamily="34" charset="-122"/>
                <a:cs typeface="Calibri" pitchFamily="34" charset="-120"/>
              </a:rPr>
              <a:t>READ</a:t>
            </a:r>
            <a:endParaRPr lang="en-US" sz="1500" dirty="0"/>
          </a:p>
          <a:p>
            <a:pPr algn="ctr" indent="0" marL="0">
              <a:buNone/>
            </a:pPr>
            <a:r>
              <a:rPr lang="en-US" sz="1500" dirty="0">
                <a:solidFill>
                  <a:srgbClr val="1C2421"/>
                </a:solidFill>
                <a:latin typeface="Calibri" pitchFamily="34" charset="0"/>
                <a:ea typeface="Calibri" pitchFamily="34" charset="-122"/>
                <a:cs typeface="Calibri" pitchFamily="34" charset="-120"/>
              </a:rPr>
              <a:t>Published data</a:t>
            </a:r>
            <a:endParaRPr lang="en-US" sz="1500" dirty="0"/>
          </a:p>
          <a:p>
            <a:pPr algn="ctr" indent="0" marL="0">
              <a:buNone/>
            </a:pPr>
            <a:r>
              <a:rPr lang="en-US" sz="1500" dirty="0">
                <a:solidFill>
                  <a:srgbClr val="1C2421"/>
                </a:solidFill>
                <a:latin typeface="Calibri" pitchFamily="34" charset="0"/>
                <a:ea typeface="Calibri" pitchFamily="34" charset="-122"/>
                <a:cs typeface="Calibri" pitchFamily="34" charset="-120"/>
              </a:rPr>
              <a:t>Filter · Export</a:t>
            </a:r>
            <a:endParaRPr lang="en-US" sz="1500" dirty="0"/>
          </a:p>
        </p:txBody>
      </p:sp>
      <p:sp>
        <p:nvSpPr>
          <p:cNvPr id="11" name="Shape 9"/>
          <p:cNvSpPr/>
          <p:nvPr/>
        </p:nvSpPr>
        <p:spPr>
          <a:xfrm>
            <a:off x="3337560" y="1143000"/>
            <a:ext cx="2651760" cy="2926080"/>
          </a:xfrm>
          <a:prstGeom prst="roundRect">
            <a:avLst>
              <a:gd name="adj" fmla="val 3448"/>
            </a:avLst>
          </a:prstGeom>
          <a:solidFill>
            <a:srgbClr val="E2F0E8"/>
          </a:solidFill>
          <a:ln w="12700">
            <a:solidFill>
              <a:srgbClr val="D5E0D9"/>
            </a:solidFill>
            <a:prstDash val="solid"/>
          </a:ln>
        </p:spPr>
      </p:sp>
      <p:sp>
        <p:nvSpPr>
          <p:cNvPr id="12" name="Text 10"/>
          <p:cNvSpPr/>
          <p:nvPr/>
        </p:nvSpPr>
        <p:spPr>
          <a:xfrm>
            <a:off x="3337560" y="1417320"/>
            <a:ext cx="2651760" cy="365760"/>
          </a:xfrm>
          <a:prstGeom prst="rect">
            <a:avLst/>
          </a:prstGeom>
          <a:noFill/>
          <a:ln/>
        </p:spPr>
        <p:txBody>
          <a:bodyPr wrap="square" rtlCol="0" anchor="ctr"/>
          <a:lstStyle/>
          <a:p>
            <a:pPr algn="ctr" indent="0" marL="0">
              <a:buNone/>
            </a:pPr>
            <a:r>
              <a:rPr lang="en-US" sz="1600" b="1" dirty="0">
                <a:solidFill>
                  <a:srgbClr val="0A5638"/>
                </a:solidFill>
                <a:latin typeface="Calibri" pitchFamily="34" charset="0"/>
                <a:ea typeface="Calibri" pitchFamily="34" charset="-122"/>
                <a:cs typeface="Calibri" pitchFamily="34" charset="-120"/>
              </a:rPr>
              <a:t>OPERATOR</a:t>
            </a:r>
            <a:endParaRPr lang="en-US" sz="1600" dirty="0"/>
          </a:p>
        </p:txBody>
      </p:sp>
      <p:sp>
        <p:nvSpPr>
          <p:cNvPr id="13" name="Text 11"/>
          <p:cNvSpPr/>
          <p:nvPr/>
        </p:nvSpPr>
        <p:spPr>
          <a:xfrm>
            <a:off x="3520440" y="2103120"/>
            <a:ext cx="2286000" cy="1463040"/>
          </a:xfrm>
          <a:prstGeom prst="rect">
            <a:avLst/>
          </a:prstGeom>
          <a:noFill/>
          <a:ln/>
        </p:spPr>
        <p:txBody>
          <a:bodyPr wrap="square" rtlCol="0" anchor="ctr"/>
          <a:lstStyle/>
          <a:p>
            <a:pPr algn="ctr" indent="0" marL="0">
              <a:buNone/>
            </a:pPr>
            <a:r>
              <a:rPr lang="en-US" sz="1500" dirty="0">
                <a:solidFill>
                  <a:srgbClr val="1C2421"/>
                </a:solidFill>
                <a:latin typeface="Calibri" pitchFamily="34" charset="0"/>
                <a:ea typeface="Calibri" pitchFamily="34" charset="-122"/>
                <a:cs typeface="Calibri" pitchFamily="34" charset="-120"/>
              </a:rPr>
              <a:t>UPDATE</a:t>
            </a:r>
            <a:endParaRPr lang="en-US" sz="1500" dirty="0"/>
          </a:p>
          <a:p>
            <a:pPr algn="ctr" indent="0" marL="0">
              <a:buNone/>
            </a:pPr>
            <a:r>
              <a:rPr lang="en-US" sz="1500" dirty="0">
                <a:solidFill>
                  <a:srgbClr val="1C2421"/>
                </a:solidFill>
                <a:latin typeface="Calibri" pitchFamily="34" charset="0"/>
                <a:ea typeface="Calibri" pitchFamily="34" charset="-122"/>
                <a:cs typeface="Calibri" pitchFamily="34" charset="-120"/>
              </a:rPr>
              <a:t>Draft &amp; Submit</a:t>
            </a:r>
            <a:endParaRPr lang="en-US" sz="1500" dirty="0"/>
          </a:p>
          <a:p>
            <a:pPr algn="ctr" indent="0" marL="0">
              <a:buNone/>
            </a:pPr>
            <a:r>
              <a:rPr lang="en-US" sz="1500" dirty="0">
                <a:solidFill>
                  <a:srgbClr val="1C2421"/>
                </a:solidFill>
                <a:latin typeface="Calibri" pitchFamily="34" charset="0"/>
                <a:ea typeface="Calibri" pitchFamily="34" charset="-122"/>
                <a:cs typeface="Calibri" pitchFamily="34" charset="-120"/>
              </a:rPr>
              <a:t>Own submissions</a:t>
            </a:r>
            <a:endParaRPr lang="en-US" sz="1500" dirty="0"/>
          </a:p>
        </p:txBody>
      </p:sp>
      <p:sp>
        <p:nvSpPr>
          <p:cNvPr id="14" name="Shape 12"/>
          <p:cNvSpPr/>
          <p:nvPr/>
        </p:nvSpPr>
        <p:spPr>
          <a:xfrm>
            <a:off x="6172200" y="1143000"/>
            <a:ext cx="2651760" cy="2926080"/>
          </a:xfrm>
          <a:prstGeom prst="roundRect">
            <a:avLst>
              <a:gd name="adj" fmla="val 3448"/>
            </a:avLst>
          </a:prstGeom>
          <a:solidFill>
            <a:srgbClr val="0A5638"/>
          </a:solidFill>
          <a:ln w="12700">
            <a:solidFill>
              <a:srgbClr val="D5E0D9"/>
            </a:solidFill>
            <a:prstDash val="solid"/>
          </a:ln>
        </p:spPr>
      </p:sp>
      <p:sp>
        <p:nvSpPr>
          <p:cNvPr id="15" name="Text 13"/>
          <p:cNvSpPr/>
          <p:nvPr/>
        </p:nvSpPr>
        <p:spPr>
          <a:xfrm>
            <a:off x="6172200" y="1417320"/>
            <a:ext cx="265176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ADMIN</a:t>
            </a:r>
            <a:endParaRPr lang="en-US" sz="1600" dirty="0"/>
          </a:p>
        </p:txBody>
      </p:sp>
      <p:sp>
        <p:nvSpPr>
          <p:cNvPr id="16" name="Text 14"/>
          <p:cNvSpPr/>
          <p:nvPr/>
        </p:nvSpPr>
        <p:spPr>
          <a:xfrm>
            <a:off x="6355080" y="2103120"/>
            <a:ext cx="2286000" cy="1463040"/>
          </a:xfrm>
          <a:prstGeom prst="rect">
            <a:avLst/>
          </a:prstGeom>
          <a:noFill/>
          <a:ln/>
        </p:spPr>
        <p:txBody>
          <a:bodyPr wrap="square" rtlCol="0" anchor="ctr"/>
          <a:lstStyle/>
          <a:p>
            <a:pPr algn="ctr" indent="0" marL="0">
              <a:buNone/>
            </a:pPr>
            <a:r>
              <a:rPr lang="en-US" sz="1500" dirty="0">
                <a:solidFill>
                  <a:srgbClr val="E8F2EC"/>
                </a:solidFill>
                <a:latin typeface="Calibri" pitchFamily="34" charset="0"/>
                <a:ea typeface="Calibri" pitchFamily="34" charset="-122"/>
                <a:cs typeface="Calibri" pitchFamily="34" charset="-120"/>
              </a:rPr>
              <a:t>REVIEW</a:t>
            </a:r>
            <a:endParaRPr lang="en-US" sz="1500" dirty="0"/>
          </a:p>
          <a:p>
            <a:pPr algn="ctr" indent="0" marL="0">
              <a:buNone/>
            </a:pPr>
            <a:r>
              <a:rPr lang="en-US" sz="1500" dirty="0">
                <a:solidFill>
                  <a:srgbClr val="E8F2EC"/>
                </a:solidFill>
                <a:latin typeface="Calibri" pitchFamily="34" charset="0"/>
                <a:ea typeface="Calibri" pitchFamily="34" charset="-122"/>
                <a:cs typeface="Calibri" pitchFamily="34" charset="-120"/>
              </a:rPr>
              <a:t>Reject / Publish</a:t>
            </a:r>
            <a:endParaRPr lang="en-US" sz="1500" dirty="0"/>
          </a:p>
          <a:p>
            <a:pPr algn="ctr" indent="0" marL="0">
              <a:buNone/>
            </a:pPr>
            <a:r>
              <a:rPr lang="en-US" sz="1500" dirty="0">
                <a:solidFill>
                  <a:srgbClr val="E8F2EC"/>
                </a:solidFill>
                <a:latin typeface="Calibri" pitchFamily="34" charset="0"/>
                <a:ea typeface="Calibri" pitchFamily="34" charset="-122"/>
                <a:cs typeface="Calibri" pitchFamily="34" charset="-120"/>
              </a:rPr>
              <a:t>Audit trail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05  /  DESAIN</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05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System Architecture</a:t>
            </a:r>
            <a:endParaRPr lang="en-US" sz="2600" dirty="0"/>
          </a:p>
        </p:txBody>
      </p:sp>
      <p:sp>
        <p:nvSpPr>
          <p:cNvPr id="8" name="Shape 6"/>
          <p:cNvSpPr/>
          <p:nvPr/>
        </p:nvSpPr>
        <p:spPr>
          <a:xfrm>
            <a:off x="1463040" y="1051560"/>
            <a:ext cx="6217920" cy="502920"/>
          </a:xfrm>
          <a:prstGeom prst="roundRect">
            <a:avLst>
              <a:gd name="adj" fmla="val 10909"/>
            </a:avLst>
          </a:prstGeom>
          <a:solidFill>
            <a:srgbClr val="FFFFFF"/>
          </a:solidFill>
          <a:ln w="12700">
            <a:solidFill>
              <a:srgbClr val="D5E0D9"/>
            </a:solidFill>
            <a:prstDash val="solid"/>
          </a:ln>
        </p:spPr>
      </p:sp>
      <p:sp>
        <p:nvSpPr>
          <p:cNvPr id="9" name="Text 7"/>
          <p:cNvSpPr/>
          <p:nvPr/>
        </p:nvSpPr>
        <p:spPr>
          <a:xfrm>
            <a:off x="1463040" y="1143000"/>
            <a:ext cx="6217920" cy="320040"/>
          </a:xfrm>
          <a:prstGeom prst="rect">
            <a:avLst/>
          </a:prstGeom>
          <a:noFill/>
          <a:ln/>
        </p:spPr>
        <p:txBody>
          <a:bodyPr wrap="square" rtlCol="0" anchor="ctr"/>
          <a:lstStyle/>
          <a:p>
            <a:pPr algn="ctr" indent="0" marL="0">
              <a:buNone/>
            </a:pPr>
            <a:r>
              <a:rPr lang="en-US" sz="1500" b="1" dirty="0">
                <a:solidFill>
                  <a:srgbClr val="1C2421"/>
                </a:solidFill>
                <a:latin typeface="Calibri" pitchFamily="34" charset="0"/>
                <a:ea typeface="Calibri" pitchFamily="34" charset="-122"/>
                <a:cs typeface="Calibri" pitchFamily="34" charset="-120"/>
              </a:rPr>
              <a:t>React / Vite  ·  Frontend</a:t>
            </a:r>
            <a:endParaRPr lang="en-US" sz="1500" dirty="0"/>
          </a:p>
        </p:txBody>
      </p:sp>
      <p:sp>
        <p:nvSpPr>
          <p:cNvPr id="10" name="Shape 8"/>
          <p:cNvSpPr/>
          <p:nvPr/>
        </p:nvSpPr>
        <p:spPr>
          <a:xfrm>
            <a:off x="1463040" y="1673352"/>
            <a:ext cx="6217920" cy="502920"/>
          </a:xfrm>
          <a:prstGeom prst="roundRect">
            <a:avLst>
              <a:gd name="adj" fmla="val 10909"/>
            </a:avLst>
          </a:prstGeom>
          <a:solidFill>
            <a:srgbClr val="FFFFFF"/>
          </a:solidFill>
          <a:ln w="12700">
            <a:solidFill>
              <a:srgbClr val="D5E0D9"/>
            </a:solidFill>
            <a:prstDash val="solid"/>
          </a:ln>
        </p:spPr>
      </p:sp>
      <p:sp>
        <p:nvSpPr>
          <p:cNvPr id="11" name="Text 9"/>
          <p:cNvSpPr/>
          <p:nvPr/>
        </p:nvSpPr>
        <p:spPr>
          <a:xfrm>
            <a:off x="1463040" y="1764792"/>
            <a:ext cx="6217920" cy="320040"/>
          </a:xfrm>
          <a:prstGeom prst="rect">
            <a:avLst/>
          </a:prstGeom>
          <a:noFill/>
          <a:ln/>
        </p:spPr>
        <p:txBody>
          <a:bodyPr wrap="square" rtlCol="0" anchor="ctr"/>
          <a:lstStyle/>
          <a:p>
            <a:pPr algn="ctr" indent="0" marL="0">
              <a:buNone/>
            </a:pPr>
            <a:r>
              <a:rPr lang="en-US" sz="1500" b="1" dirty="0">
                <a:solidFill>
                  <a:srgbClr val="1C2421"/>
                </a:solidFill>
                <a:latin typeface="Calibri" pitchFamily="34" charset="0"/>
                <a:ea typeface="Calibri" pitchFamily="34" charset="-122"/>
                <a:cs typeface="Calibri" pitchFamily="34" charset="-120"/>
              </a:rPr>
              <a:t>API Client  ·  JWT Cookie</a:t>
            </a:r>
            <a:endParaRPr lang="en-US" sz="1500" dirty="0"/>
          </a:p>
        </p:txBody>
      </p:sp>
      <p:sp>
        <p:nvSpPr>
          <p:cNvPr id="12" name="Shape 10"/>
          <p:cNvSpPr/>
          <p:nvPr/>
        </p:nvSpPr>
        <p:spPr>
          <a:xfrm>
            <a:off x="1463040" y="2295144"/>
            <a:ext cx="6217920" cy="502920"/>
          </a:xfrm>
          <a:prstGeom prst="roundRect">
            <a:avLst>
              <a:gd name="adj" fmla="val 10909"/>
            </a:avLst>
          </a:prstGeom>
          <a:solidFill>
            <a:srgbClr val="FFFFFF"/>
          </a:solidFill>
          <a:ln w="12700">
            <a:solidFill>
              <a:srgbClr val="D5E0D9"/>
            </a:solidFill>
            <a:prstDash val="solid"/>
          </a:ln>
        </p:spPr>
      </p:sp>
      <p:sp>
        <p:nvSpPr>
          <p:cNvPr id="13" name="Text 11"/>
          <p:cNvSpPr/>
          <p:nvPr/>
        </p:nvSpPr>
        <p:spPr>
          <a:xfrm>
            <a:off x="1463040" y="2386584"/>
            <a:ext cx="6217920" cy="320040"/>
          </a:xfrm>
          <a:prstGeom prst="rect">
            <a:avLst/>
          </a:prstGeom>
          <a:noFill/>
          <a:ln/>
        </p:spPr>
        <p:txBody>
          <a:bodyPr wrap="square" rtlCol="0" anchor="ctr"/>
          <a:lstStyle/>
          <a:p>
            <a:pPr algn="ctr" indent="0" marL="0">
              <a:buNone/>
            </a:pPr>
            <a:r>
              <a:rPr lang="en-US" sz="1500" b="1" dirty="0">
                <a:solidFill>
                  <a:srgbClr val="1C2421"/>
                </a:solidFill>
                <a:latin typeface="Calibri" pitchFamily="34" charset="0"/>
                <a:ea typeface="Calibri" pitchFamily="34" charset="-122"/>
                <a:cs typeface="Calibri" pitchFamily="34" charset="-120"/>
              </a:rPr>
              <a:t>Express API  ·  Auth  ·  RBAC</a:t>
            </a:r>
            <a:endParaRPr lang="en-US" sz="1500" dirty="0"/>
          </a:p>
        </p:txBody>
      </p:sp>
      <p:sp>
        <p:nvSpPr>
          <p:cNvPr id="14" name="Shape 12"/>
          <p:cNvSpPr/>
          <p:nvPr/>
        </p:nvSpPr>
        <p:spPr>
          <a:xfrm>
            <a:off x="1463040" y="2916936"/>
            <a:ext cx="6217920" cy="502920"/>
          </a:xfrm>
          <a:prstGeom prst="roundRect">
            <a:avLst>
              <a:gd name="adj" fmla="val 10909"/>
            </a:avLst>
          </a:prstGeom>
          <a:solidFill>
            <a:srgbClr val="FFFFFF"/>
          </a:solidFill>
          <a:ln w="12700">
            <a:solidFill>
              <a:srgbClr val="D5E0D9"/>
            </a:solidFill>
            <a:prstDash val="solid"/>
          </a:ln>
        </p:spPr>
      </p:sp>
      <p:sp>
        <p:nvSpPr>
          <p:cNvPr id="15" name="Text 13"/>
          <p:cNvSpPr/>
          <p:nvPr/>
        </p:nvSpPr>
        <p:spPr>
          <a:xfrm>
            <a:off x="1463040" y="3008376"/>
            <a:ext cx="6217920" cy="320040"/>
          </a:xfrm>
          <a:prstGeom prst="rect">
            <a:avLst/>
          </a:prstGeom>
          <a:noFill/>
          <a:ln/>
        </p:spPr>
        <p:txBody>
          <a:bodyPr wrap="square" rtlCol="0" anchor="ctr"/>
          <a:lstStyle/>
          <a:p>
            <a:pPr algn="ctr" indent="0" marL="0">
              <a:buNone/>
            </a:pPr>
            <a:r>
              <a:rPr lang="en-US" sz="1500" b="1" dirty="0">
                <a:solidFill>
                  <a:srgbClr val="1C2421"/>
                </a:solidFill>
                <a:latin typeface="Calibri" pitchFamily="34" charset="0"/>
                <a:ea typeface="Calibri" pitchFamily="34" charset="-122"/>
                <a:cs typeface="Calibri" pitchFamily="34" charset="-120"/>
              </a:rPr>
              <a:t>Prisma ORM</a:t>
            </a:r>
            <a:endParaRPr lang="en-US" sz="1500" dirty="0"/>
          </a:p>
        </p:txBody>
      </p:sp>
      <p:sp>
        <p:nvSpPr>
          <p:cNvPr id="16" name="Shape 14"/>
          <p:cNvSpPr/>
          <p:nvPr/>
        </p:nvSpPr>
        <p:spPr>
          <a:xfrm>
            <a:off x="1463040" y="3538728"/>
            <a:ext cx="6217920" cy="502920"/>
          </a:xfrm>
          <a:prstGeom prst="roundRect">
            <a:avLst>
              <a:gd name="adj" fmla="val 10909"/>
            </a:avLst>
          </a:prstGeom>
          <a:solidFill>
            <a:srgbClr val="0A5638"/>
          </a:solidFill>
          <a:ln w="12700">
            <a:solidFill>
              <a:srgbClr val="D5E0D9"/>
            </a:solidFill>
            <a:prstDash val="solid"/>
          </a:ln>
        </p:spPr>
      </p:sp>
      <p:sp>
        <p:nvSpPr>
          <p:cNvPr id="17" name="Text 15"/>
          <p:cNvSpPr/>
          <p:nvPr/>
        </p:nvSpPr>
        <p:spPr>
          <a:xfrm>
            <a:off x="1463040" y="3630168"/>
            <a:ext cx="6217920" cy="3200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Database  ·  Observation + DataChange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06  /  UI UX</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06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Desain &amp; UI/UX</a:t>
            </a:r>
            <a:endParaRPr lang="en-US" sz="2600" dirty="0"/>
          </a:p>
        </p:txBody>
      </p:sp>
      <p:pic>
        <p:nvPicPr>
          <p:cNvPr id="8" name="Image 0" descr="D:\Dashboard Indikator BPS\docs\guide-assets\02-dashboard.png">    </p:cNvPr>
          <p:cNvPicPr>
            <a:picLocks noChangeAspect="1"/>
          </p:cNvPicPr>
          <p:nvPr/>
        </p:nvPicPr>
        <p:blipFill>
          <a:blip r:embed="rId1"/>
          <a:stretch>
            <a:fillRect/>
          </a:stretch>
        </p:blipFill>
        <p:spPr>
          <a:xfrm>
            <a:off x="411480" y="1005840"/>
            <a:ext cx="2743200" cy="1554480"/>
          </a:xfrm>
          <a:prstGeom prst="rect">
            <a:avLst/>
          </a:prstGeom>
        </p:spPr>
      </p:pic>
      <p:sp>
        <p:nvSpPr>
          <p:cNvPr id="9" name="Shape 6"/>
          <p:cNvSpPr/>
          <p:nvPr/>
        </p:nvSpPr>
        <p:spPr>
          <a:xfrm>
            <a:off x="411480" y="1005840"/>
            <a:ext cx="2743200" cy="1554480"/>
          </a:xfrm>
          <a:prstGeom prst="rect">
            <a:avLst/>
          </a:prstGeom>
          <a:ln w="12700">
            <a:solidFill>
              <a:srgbClr val="D5E0D9"/>
            </a:solidFill>
            <a:prstDash val="solid"/>
          </a:ln>
        </p:spPr>
      </p:sp>
      <p:sp>
        <p:nvSpPr>
          <p:cNvPr id="10" name="Text 7"/>
          <p:cNvSpPr/>
          <p:nvPr/>
        </p:nvSpPr>
        <p:spPr>
          <a:xfrm>
            <a:off x="411480" y="2651760"/>
            <a:ext cx="2743200" cy="256032"/>
          </a:xfrm>
          <a:prstGeom prst="rect">
            <a:avLst/>
          </a:prstGeom>
          <a:noFill/>
          <a:ln/>
        </p:spPr>
        <p:txBody>
          <a:bodyPr wrap="square" rtlCol="0" anchor="ctr"/>
          <a:lstStyle/>
          <a:p>
            <a:pPr algn="ctr" indent="0" marL="0">
              <a:buNone/>
            </a:pPr>
            <a:r>
              <a:rPr lang="en-US" sz="1200" dirty="0">
                <a:solidFill>
                  <a:srgbClr val="5A6B62"/>
                </a:solidFill>
                <a:latin typeface="Calibri" pitchFamily="34" charset="0"/>
                <a:ea typeface="Calibri" pitchFamily="34" charset="-122"/>
                <a:cs typeface="Calibri" pitchFamily="34" charset="-120"/>
              </a:rPr>
              <a:t>Dashboard</a:t>
            </a:r>
            <a:endParaRPr lang="en-US" sz="1200" dirty="0"/>
          </a:p>
        </p:txBody>
      </p:sp>
      <p:pic>
        <p:nvPicPr>
          <p:cNvPr id="11" name="Image 1" descr="D:\Dashboard Indikator BPS\docs\guide-assets\03-detail-drawer.png">    </p:cNvPr>
          <p:cNvPicPr>
            <a:picLocks noChangeAspect="1"/>
          </p:cNvPicPr>
          <p:nvPr/>
        </p:nvPicPr>
        <p:blipFill>
          <a:blip r:embed="rId2"/>
          <a:stretch>
            <a:fillRect/>
          </a:stretch>
        </p:blipFill>
        <p:spPr>
          <a:xfrm>
            <a:off x="3291840" y="1005840"/>
            <a:ext cx="2743200" cy="1554480"/>
          </a:xfrm>
          <a:prstGeom prst="rect">
            <a:avLst/>
          </a:prstGeom>
        </p:spPr>
      </p:pic>
      <p:sp>
        <p:nvSpPr>
          <p:cNvPr id="12" name="Shape 8"/>
          <p:cNvSpPr/>
          <p:nvPr/>
        </p:nvSpPr>
        <p:spPr>
          <a:xfrm>
            <a:off x="3291840" y="1005840"/>
            <a:ext cx="2743200" cy="1554480"/>
          </a:xfrm>
          <a:prstGeom prst="rect">
            <a:avLst/>
          </a:prstGeom>
          <a:ln w="12700">
            <a:solidFill>
              <a:srgbClr val="D5E0D9"/>
            </a:solidFill>
            <a:prstDash val="solid"/>
          </a:ln>
        </p:spPr>
      </p:sp>
      <p:sp>
        <p:nvSpPr>
          <p:cNvPr id="13" name="Text 9"/>
          <p:cNvSpPr/>
          <p:nvPr/>
        </p:nvSpPr>
        <p:spPr>
          <a:xfrm>
            <a:off x="3291840" y="2651760"/>
            <a:ext cx="2743200" cy="256032"/>
          </a:xfrm>
          <a:prstGeom prst="rect">
            <a:avLst/>
          </a:prstGeom>
          <a:noFill/>
          <a:ln/>
        </p:spPr>
        <p:txBody>
          <a:bodyPr wrap="square" rtlCol="0" anchor="ctr"/>
          <a:lstStyle/>
          <a:p>
            <a:pPr algn="ctr" indent="0" marL="0">
              <a:buNone/>
            </a:pPr>
            <a:r>
              <a:rPr lang="en-US" sz="1200" dirty="0">
                <a:solidFill>
                  <a:srgbClr val="5A6B62"/>
                </a:solidFill>
                <a:latin typeface="Calibri" pitchFamily="34" charset="0"/>
                <a:ea typeface="Calibri" pitchFamily="34" charset="-122"/>
                <a:cs typeface="Calibri" pitchFamily="34" charset="-120"/>
              </a:rPr>
              <a:t>Detail</a:t>
            </a:r>
            <a:endParaRPr lang="en-US" sz="1200" dirty="0"/>
          </a:p>
        </p:txBody>
      </p:sp>
      <p:pic>
        <p:nvPicPr>
          <p:cNvPr id="14" name="Image 2" descr="D:\Dashboard Indikator BPS\docs\guide-assets\04-login.png">    </p:cNvPr>
          <p:cNvPicPr>
            <a:picLocks noChangeAspect="1"/>
          </p:cNvPicPr>
          <p:nvPr/>
        </p:nvPicPr>
        <p:blipFill>
          <a:blip r:embed="rId3"/>
          <a:stretch>
            <a:fillRect/>
          </a:stretch>
        </p:blipFill>
        <p:spPr>
          <a:xfrm>
            <a:off x="6172200" y="1005840"/>
            <a:ext cx="2743200" cy="1554480"/>
          </a:xfrm>
          <a:prstGeom prst="rect">
            <a:avLst/>
          </a:prstGeom>
        </p:spPr>
      </p:pic>
      <p:sp>
        <p:nvSpPr>
          <p:cNvPr id="15" name="Shape 10"/>
          <p:cNvSpPr/>
          <p:nvPr/>
        </p:nvSpPr>
        <p:spPr>
          <a:xfrm>
            <a:off x="6172200" y="1005840"/>
            <a:ext cx="2743200" cy="1554480"/>
          </a:xfrm>
          <a:prstGeom prst="rect">
            <a:avLst/>
          </a:prstGeom>
          <a:ln w="12700">
            <a:solidFill>
              <a:srgbClr val="D5E0D9"/>
            </a:solidFill>
            <a:prstDash val="solid"/>
          </a:ln>
        </p:spPr>
      </p:sp>
      <p:sp>
        <p:nvSpPr>
          <p:cNvPr id="16" name="Text 11"/>
          <p:cNvSpPr/>
          <p:nvPr/>
        </p:nvSpPr>
        <p:spPr>
          <a:xfrm>
            <a:off x="6172200" y="2651760"/>
            <a:ext cx="2743200" cy="256032"/>
          </a:xfrm>
          <a:prstGeom prst="rect">
            <a:avLst/>
          </a:prstGeom>
          <a:noFill/>
          <a:ln/>
        </p:spPr>
        <p:txBody>
          <a:bodyPr wrap="square" rtlCol="0" anchor="ctr"/>
          <a:lstStyle/>
          <a:p>
            <a:pPr algn="ctr" indent="0" marL="0">
              <a:buNone/>
            </a:pPr>
            <a:r>
              <a:rPr lang="en-US" sz="1200" dirty="0">
                <a:solidFill>
                  <a:srgbClr val="5A6B62"/>
                </a:solidFill>
                <a:latin typeface="Calibri" pitchFamily="34" charset="0"/>
                <a:ea typeface="Calibri" pitchFamily="34" charset="-122"/>
                <a:cs typeface="Calibri" pitchFamily="34" charset="-120"/>
              </a:rPr>
              <a:t>Login</a:t>
            </a:r>
            <a:endParaRPr lang="en-US" sz="1200" dirty="0"/>
          </a:p>
        </p:txBody>
      </p:sp>
      <p:sp>
        <p:nvSpPr>
          <p:cNvPr id="17" name="Shape 12"/>
          <p:cNvSpPr/>
          <p:nvPr/>
        </p:nvSpPr>
        <p:spPr>
          <a:xfrm>
            <a:off x="411480" y="3154680"/>
            <a:ext cx="2743200" cy="777240"/>
          </a:xfrm>
          <a:prstGeom prst="roundRect">
            <a:avLst>
              <a:gd name="adj" fmla="val 9412"/>
            </a:avLst>
          </a:prstGeom>
          <a:solidFill>
            <a:srgbClr val="FFFFFF"/>
          </a:solidFill>
          <a:ln w="12700">
            <a:solidFill>
              <a:srgbClr val="D5E0D9"/>
            </a:solidFill>
            <a:prstDash val="solid"/>
          </a:ln>
        </p:spPr>
      </p:sp>
      <p:sp>
        <p:nvSpPr>
          <p:cNvPr id="18" name="Text 13"/>
          <p:cNvSpPr/>
          <p:nvPr/>
        </p:nvSpPr>
        <p:spPr>
          <a:xfrm>
            <a:off x="411480" y="3383280"/>
            <a:ext cx="2743200" cy="365760"/>
          </a:xfrm>
          <a:prstGeom prst="rect">
            <a:avLst/>
          </a:prstGeom>
          <a:noFill/>
          <a:ln/>
        </p:spPr>
        <p:txBody>
          <a:bodyPr wrap="square" rtlCol="0" anchor="ctr"/>
          <a:lstStyle/>
          <a:p>
            <a:pPr algn="ctr" indent="0" marL="0">
              <a:buNone/>
            </a:pPr>
            <a:r>
              <a:rPr lang="en-US" sz="1400" b="1" dirty="0">
                <a:solidFill>
                  <a:srgbClr val="0A5638"/>
                </a:solidFill>
                <a:latin typeface="Calibri" pitchFamily="34" charset="0"/>
                <a:ea typeface="Calibri" pitchFamily="34" charset="-122"/>
                <a:cs typeface="Calibri" pitchFamily="34" charset="-120"/>
              </a:rPr>
              <a:t>CLARITY</a:t>
            </a:r>
            <a:endParaRPr lang="en-US" sz="1400" dirty="0"/>
          </a:p>
        </p:txBody>
      </p:sp>
      <p:sp>
        <p:nvSpPr>
          <p:cNvPr id="19" name="Shape 14"/>
          <p:cNvSpPr/>
          <p:nvPr/>
        </p:nvSpPr>
        <p:spPr>
          <a:xfrm>
            <a:off x="3291840" y="3154680"/>
            <a:ext cx="2743200" cy="777240"/>
          </a:xfrm>
          <a:prstGeom prst="roundRect">
            <a:avLst>
              <a:gd name="adj" fmla="val 9412"/>
            </a:avLst>
          </a:prstGeom>
          <a:solidFill>
            <a:srgbClr val="FFFFFF"/>
          </a:solidFill>
          <a:ln w="12700">
            <a:solidFill>
              <a:srgbClr val="D5E0D9"/>
            </a:solidFill>
            <a:prstDash val="solid"/>
          </a:ln>
        </p:spPr>
      </p:sp>
      <p:sp>
        <p:nvSpPr>
          <p:cNvPr id="20" name="Text 15"/>
          <p:cNvSpPr/>
          <p:nvPr/>
        </p:nvSpPr>
        <p:spPr>
          <a:xfrm>
            <a:off x="3291840" y="3383280"/>
            <a:ext cx="2743200" cy="365760"/>
          </a:xfrm>
          <a:prstGeom prst="rect">
            <a:avLst/>
          </a:prstGeom>
          <a:noFill/>
          <a:ln/>
        </p:spPr>
        <p:txBody>
          <a:bodyPr wrap="square" rtlCol="0" anchor="ctr"/>
          <a:lstStyle/>
          <a:p>
            <a:pPr algn="ctr" indent="0" marL="0">
              <a:buNone/>
            </a:pPr>
            <a:r>
              <a:rPr lang="en-US" sz="1400" b="1" dirty="0">
                <a:solidFill>
                  <a:srgbClr val="0A5638"/>
                </a:solidFill>
                <a:latin typeface="Calibri" pitchFamily="34" charset="0"/>
                <a:ea typeface="Calibri" pitchFamily="34" charset="-122"/>
                <a:cs typeface="Calibri" pitchFamily="34" charset="-120"/>
              </a:rPr>
              <a:t>CONSISTENCY</a:t>
            </a:r>
            <a:endParaRPr lang="en-US" sz="1400" dirty="0"/>
          </a:p>
        </p:txBody>
      </p:sp>
      <p:sp>
        <p:nvSpPr>
          <p:cNvPr id="21" name="Shape 16"/>
          <p:cNvSpPr/>
          <p:nvPr/>
        </p:nvSpPr>
        <p:spPr>
          <a:xfrm>
            <a:off x="6172200" y="3154680"/>
            <a:ext cx="2743200" cy="777240"/>
          </a:xfrm>
          <a:prstGeom prst="roundRect">
            <a:avLst>
              <a:gd name="adj" fmla="val 9412"/>
            </a:avLst>
          </a:prstGeom>
          <a:solidFill>
            <a:srgbClr val="FFFFFF"/>
          </a:solidFill>
          <a:ln w="12700">
            <a:solidFill>
              <a:srgbClr val="D5E0D9"/>
            </a:solidFill>
            <a:prstDash val="solid"/>
          </a:ln>
        </p:spPr>
      </p:sp>
      <p:sp>
        <p:nvSpPr>
          <p:cNvPr id="22" name="Text 17"/>
          <p:cNvSpPr/>
          <p:nvPr/>
        </p:nvSpPr>
        <p:spPr>
          <a:xfrm>
            <a:off x="6172200" y="3383280"/>
            <a:ext cx="2743200" cy="365760"/>
          </a:xfrm>
          <a:prstGeom prst="rect">
            <a:avLst/>
          </a:prstGeom>
          <a:noFill/>
          <a:ln/>
        </p:spPr>
        <p:txBody>
          <a:bodyPr wrap="square" rtlCol="0" anchor="ctr"/>
          <a:lstStyle/>
          <a:p>
            <a:pPr algn="ctr" indent="0" marL="0">
              <a:buNone/>
            </a:pPr>
            <a:r>
              <a:rPr lang="en-US" sz="1400" b="1" dirty="0">
                <a:solidFill>
                  <a:srgbClr val="0A5638"/>
                </a:solidFill>
                <a:latin typeface="Calibri" pitchFamily="34" charset="0"/>
                <a:ea typeface="Calibri" pitchFamily="34" charset="-122"/>
                <a:cs typeface="Calibri" pitchFamily="34" charset="-120"/>
              </a:rPr>
              <a:t>RESPONSIVENESS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07  /  IMPLEMENTASI</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07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Implementasi</a:t>
            </a:r>
            <a:endParaRPr lang="en-US" sz="2600" dirty="0"/>
          </a:p>
        </p:txBody>
      </p:sp>
      <p:sp>
        <p:nvSpPr>
          <p:cNvPr id="8" name="Shape 6"/>
          <p:cNvSpPr/>
          <p:nvPr/>
        </p:nvSpPr>
        <p:spPr>
          <a:xfrm>
            <a:off x="411480" y="1097280"/>
            <a:ext cx="2743200" cy="1234440"/>
          </a:xfrm>
          <a:prstGeom prst="roundRect">
            <a:avLst>
              <a:gd name="adj" fmla="val 5926"/>
            </a:avLst>
          </a:prstGeom>
          <a:solidFill>
            <a:srgbClr val="FFFFFF"/>
          </a:solidFill>
          <a:ln w="12700">
            <a:solidFill>
              <a:srgbClr val="D5E0D9"/>
            </a:solidFill>
            <a:prstDash val="solid"/>
          </a:ln>
        </p:spPr>
      </p:sp>
      <p:sp>
        <p:nvSpPr>
          <p:cNvPr id="9" name="Text 7"/>
          <p:cNvSpPr/>
          <p:nvPr/>
        </p:nvSpPr>
        <p:spPr>
          <a:xfrm>
            <a:off x="594360" y="1371600"/>
            <a:ext cx="2377440" cy="320040"/>
          </a:xfrm>
          <a:prstGeom prst="rect">
            <a:avLst/>
          </a:prstGeom>
          <a:noFill/>
          <a:ln/>
        </p:spPr>
        <p:txBody>
          <a:bodyPr wrap="square" rtlCol="0" anchor="ctr"/>
          <a:lstStyle/>
          <a:p>
            <a:pPr indent="0" marL="0">
              <a:buNone/>
            </a:pPr>
            <a:r>
              <a:rPr lang="en-US" sz="1500" b="1" dirty="0">
                <a:solidFill>
                  <a:srgbClr val="0A5638"/>
                </a:solidFill>
                <a:latin typeface="Calibri" pitchFamily="34" charset="0"/>
                <a:ea typeface="Calibri" pitchFamily="34" charset="-122"/>
                <a:cs typeface="Calibri" pitchFamily="34" charset="-120"/>
              </a:rPr>
              <a:t>Public Dashboard</a:t>
            </a:r>
            <a:endParaRPr lang="en-US" sz="1500" dirty="0"/>
          </a:p>
        </p:txBody>
      </p:sp>
      <p:sp>
        <p:nvSpPr>
          <p:cNvPr id="10" name="Text 8"/>
          <p:cNvSpPr/>
          <p:nvPr/>
        </p:nvSpPr>
        <p:spPr>
          <a:xfrm>
            <a:off x="594360" y="1737360"/>
            <a:ext cx="237744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KPI · chart · explorer · export</a:t>
            </a:r>
            <a:endParaRPr lang="en-US" sz="1300" dirty="0"/>
          </a:p>
        </p:txBody>
      </p:sp>
      <p:sp>
        <p:nvSpPr>
          <p:cNvPr id="11" name="Shape 9"/>
          <p:cNvSpPr/>
          <p:nvPr/>
        </p:nvSpPr>
        <p:spPr>
          <a:xfrm>
            <a:off x="3291840" y="1097280"/>
            <a:ext cx="2743200" cy="1234440"/>
          </a:xfrm>
          <a:prstGeom prst="roundRect">
            <a:avLst>
              <a:gd name="adj" fmla="val 5926"/>
            </a:avLst>
          </a:prstGeom>
          <a:solidFill>
            <a:srgbClr val="FFFFFF"/>
          </a:solidFill>
          <a:ln w="12700">
            <a:solidFill>
              <a:srgbClr val="D5E0D9"/>
            </a:solidFill>
            <a:prstDash val="solid"/>
          </a:ln>
        </p:spPr>
      </p:sp>
      <p:sp>
        <p:nvSpPr>
          <p:cNvPr id="12" name="Text 10"/>
          <p:cNvSpPr/>
          <p:nvPr/>
        </p:nvSpPr>
        <p:spPr>
          <a:xfrm>
            <a:off x="3474720" y="1371600"/>
            <a:ext cx="2377440" cy="320040"/>
          </a:xfrm>
          <a:prstGeom prst="rect">
            <a:avLst/>
          </a:prstGeom>
          <a:noFill/>
          <a:ln/>
        </p:spPr>
        <p:txBody>
          <a:bodyPr wrap="square" rtlCol="0" anchor="ctr"/>
          <a:lstStyle/>
          <a:p>
            <a:pPr indent="0" marL="0">
              <a:buNone/>
            </a:pPr>
            <a:r>
              <a:rPr lang="en-US" sz="1500" b="1" dirty="0">
                <a:solidFill>
                  <a:srgbClr val="0A5638"/>
                </a:solidFill>
                <a:latin typeface="Calibri" pitchFamily="34" charset="0"/>
                <a:ea typeface="Calibri" pitchFamily="34" charset="-122"/>
                <a:cs typeface="Calibri" pitchFamily="34" charset="-120"/>
              </a:rPr>
              <a:t>Authentication</a:t>
            </a:r>
            <a:endParaRPr lang="en-US" sz="1500" dirty="0"/>
          </a:p>
        </p:txBody>
      </p:sp>
      <p:sp>
        <p:nvSpPr>
          <p:cNvPr id="13" name="Text 11"/>
          <p:cNvSpPr/>
          <p:nvPr/>
        </p:nvSpPr>
        <p:spPr>
          <a:xfrm>
            <a:off x="3474720" y="1737360"/>
            <a:ext cx="237744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bcrypt + JWT cookie 8 jam</a:t>
            </a:r>
            <a:endParaRPr lang="en-US" sz="1300" dirty="0"/>
          </a:p>
        </p:txBody>
      </p:sp>
      <p:sp>
        <p:nvSpPr>
          <p:cNvPr id="14" name="Shape 12"/>
          <p:cNvSpPr/>
          <p:nvPr/>
        </p:nvSpPr>
        <p:spPr>
          <a:xfrm>
            <a:off x="6172200" y="1097280"/>
            <a:ext cx="2743200" cy="1234440"/>
          </a:xfrm>
          <a:prstGeom prst="roundRect">
            <a:avLst>
              <a:gd name="adj" fmla="val 5926"/>
            </a:avLst>
          </a:prstGeom>
          <a:solidFill>
            <a:srgbClr val="FFFFFF"/>
          </a:solidFill>
          <a:ln w="12700">
            <a:solidFill>
              <a:srgbClr val="D5E0D9"/>
            </a:solidFill>
            <a:prstDash val="solid"/>
          </a:ln>
        </p:spPr>
      </p:sp>
      <p:sp>
        <p:nvSpPr>
          <p:cNvPr id="15" name="Text 13"/>
          <p:cNvSpPr/>
          <p:nvPr/>
        </p:nvSpPr>
        <p:spPr>
          <a:xfrm>
            <a:off x="6355080" y="1371600"/>
            <a:ext cx="2377440" cy="320040"/>
          </a:xfrm>
          <a:prstGeom prst="rect">
            <a:avLst/>
          </a:prstGeom>
          <a:noFill/>
          <a:ln/>
        </p:spPr>
        <p:txBody>
          <a:bodyPr wrap="square" rtlCol="0" anchor="ctr"/>
          <a:lstStyle/>
          <a:p>
            <a:pPr indent="0" marL="0">
              <a:buNone/>
            </a:pPr>
            <a:r>
              <a:rPr lang="en-US" sz="1500" b="1" dirty="0">
                <a:solidFill>
                  <a:srgbClr val="0A5638"/>
                </a:solidFill>
                <a:latin typeface="Calibri" pitchFamily="34" charset="0"/>
                <a:ea typeface="Calibri" pitchFamily="34" charset="-122"/>
                <a:cs typeface="Calibri" pitchFamily="34" charset="-120"/>
              </a:rPr>
              <a:t>Draft / CRUD</a:t>
            </a:r>
            <a:endParaRPr lang="en-US" sz="1500" dirty="0"/>
          </a:p>
        </p:txBody>
      </p:sp>
      <p:sp>
        <p:nvSpPr>
          <p:cNvPr id="16" name="Text 14"/>
          <p:cNvSpPr/>
          <p:nvPr/>
        </p:nvSpPr>
        <p:spPr>
          <a:xfrm>
            <a:off x="6355080" y="1737360"/>
            <a:ext cx="237744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DataChange sebelum publish</a:t>
            </a:r>
            <a:endParaRPr lang="en-US" sz="1300" dirty="0"/>
          </a:p>
        </p:txBody>
      </p:sp>
      <p:sp>
        <p:nvSpPr>
          <p:cNvPr id="17" name="Shape 15"/>
          <p:cNvSpPr/>
          <p:nvPr/>
        </p:nvSpPr>
        <p:spPr>
          <a:xfrm>
            <a:off x="411480" y="2514600"/>
            <a:ext cx="2743200" cy="1234440"/>
          </a:xfrm>
          <a:prstGeom prst="roundRect">
            <a:avLst>
              <a:gd name="adj" fmla="val 5926"/>
            </a:avLst>
          </a:prstGeom>
          <a:solidFill>
            <a:srgbClr val="FFFFFF"/>
          </a:solidFill>
          <a:ln w="12700">
            <a:solidFill>
              <a:srgbClr val="D5E0D9"/>
            </a:solidFill>
            <a:prstDash val="solid"/>
          </a:ln>
        </p:spPr>
      </p:sp>
      <p:sp>
        <p:nvSpPr>
          <p:cNvPr id="18" name="Text 16"/>
          <p:cNvSpPr/>
          <p:nvPr/>
        </p:nvSpPr>
        <p:spPr>
          <a:xfrm>
            <a:off x="594360" y="2788920"/>
            <a:ext cx="2377440" cy="320040"/>
          </a:xfrm>
          <a:prstGeom prst="rect">
            <a:avLst/>
          </a:prstGeom>
          <a:noFill/>
          <a:ln/>
        </p:spPr>
        <p:txBody>
          <a:bodyPr wrap="square" rtlCol="0" anchor="ctr"/>
          <a:lstStyle/>
          <a:p>
            <a:pPr indent="0" marL="0">
              <a:buNone/>
            </a:pPr>
            <a:r>
              <a:rPr lang="en-US" sz="1500" b="1" dirty="0">
                <a:solidFill>
                  <a:srgbClr val="0A5638"/>
                </a:solidFill>
                <a:latin typeface="Calibri" pitchFamily="34" charset="0"/>
                <a:ea typeface="Calibri" pitchFamily="34" charset="-122"/>
                <a:cs typeface="Calibri" pitchFamily="34" charset="-120"/>
              </a:rPr>
              <a:t>Review Workflow</a:t>
            </a:r>
            <a:endParaRPr lang="en-US" sz="1500" dirty="0"/>
          </a:p>
        </p:txBody>
      </p:sp>
      <p:sp>
        <p:nvSpPr>
          <p:cNvPr id="19" name="Text 17"/>
          <p:cNvSpPr/>
          <p:nvPr/>
        </p:nvSpPr>
        <p:spPr>
          <a:xfrm>
            <a:off x="594360" y="3154680"/>
            <a:ext cx="237744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Reject &amp; Approve/Publish</a:t>
            </a:r>
            <a:endParaRPr lang="en-US" sz="1300" dirty="0"/>
          </a:p>
        </p:txBody>
      </p:sp>
      <p:sp>
        <p:nvSpPr>
          <p:cNvPr id="20" name="Shape 18"/>
          <p:cNvSpPr/>
          <p:nvPr/>
        </p:nvSpPr>
        <p:spPr>
          <a:xfrm>
            <a:off x="3291840" y="2514600"/>
            <a:ext cx="2743200" cy="1234440"/>
          </a:xfrm>
          <a:prstGeom prst="roundRect">
            <a:avLst>
              <a:gd name="adj" fmla="val 5926"/>
            </a:avLst>
          </a:prstGeom>
          <a:solidFill>
            <a:srgbClr val="FFFFFF"/>
          </a:solidFill>
          <a:ln w="12700">
            <a:solidFill>
              <a:srgbClr val="D5E0D9"/>
            </a:solidFill>
            <a:prstDash val="solid"/>
          </a:ln>
        </p:spPr>
      </p:sp>
      <p:sp>
        <p:nvSpPr>
          <p:cNvPr id="21" name="Text 19"/>
          <p:cNvSpPr/>
          <p:nvPr/>
        </p:nvSpPr>
        <p:spPr>
          <a:xfrm>
            <a:off x="3474720" y="2788920"/>
            <a:ext cx="2377440" cy="320040"/>
          </a:xfrm>
          <a:prstGeom prst="rect">
            <a:avLst/>
          </a:prstGeom>
          <a:noFill/>
          <a:ln/>
        </p:spPr>
        <p:txBody>
          <a:bodyPr wrap="square" rtlCol="0" anchor="ctr"/>
          <a:lstStyle/>
          <a:p>
            <a:pPr indent="0" marL="0">
              <a:buNone/>
            </a:pPr>
            <a:r>
              <a:rPr lang="en-US" sz="1500" b="1" dirty="0">
                <a:solidFill>
                  <a:srgbClr val="0A5638"/>
                </a:solidFill>
                <a:latin typeface="Calibri" pitchFamily="34" charset="0"/>
                <a:ea typeface="Calibri" pitchFamily="34" charset="-122"/>
                <a:cs typeface="Calibri" pitchFamily="34" charset="-120"/>
              </a:rPr>
              <a:t>Authorization</a:t>
            </a:r>
            <a:endParaRPr lang="en-US" sz="1500" dirty="0"/>
          </a:p>
        </p:txBody>
      </p:sp>
      <p:sp>
        <p:nvSpPr>
          <p:cNvPr id="22" name="Text 20"/>
          <p:cNvSpPr/>
          <p:nvPr/>
        </p:nvSpPr>
        <p:spPr>
          <a:xfrm>
            <a:off x="3474720" y="3154680"/>
            <a:ext cx="237744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requireAuth / requireRole</a:t>
            </a:r>
            <a:endParaRPr lang="en-US" sz="1300" dirty="0"/>
          </a:p>
        </p:txBody>
      </p:sp>
      <p:sp>
        <p:nvSpPr>
          <p:cNvPr id="23" name="Shape 21"/>
          <p:cNvSpPr/>
          <p:nvPr/>
        </p:nvSpPr>
        <p:spPr>
          <a:xfrm>
            <a:off x="6172200" y="2514600"/>
            <a:ext cx="2743200" cy="1234440"/>
          </a:xfrm>
          <a:prstGeom prst="roundRect">
            <a:avLst>
              <a:gd name="adj" fmla="val 5926"/>
            </a:avLst>
          </a:prstGeom>
          <a:solidFill>
            <a:srgbClr val="FFFFFF"/>
          </a:solidFill>
          <a:ln w="12700">
            <a:solidFill>
              <a:srgbClr val="D5E0D9"/>
            </a:solidFill>
            <a:prstDash val="solid"/>
          </a:ln>
        </p:spPr>
      </p:sp>
      <p:sp>
        <p:nvSpPr>
          <p:cNvPr id="24" name="Text 22"/>
          <p:cNvSpPr/>
          <p:nvPr/>
        </p:nvSpPr>
        <p:spPr>
          <a:xfrm>
            <a:off x="6355080" y="2788920"/>
            <a:ext cx="2377440" cy="320040"/>
          </a:xfrm>
          <a:prstGeom prst="rect">
            <a:avLst/>
          </a:prstGeom>
          <a:noFill/>
          <a:ln/>
        </p:spPr>
        <p:txBody>
          <a:bodyPr wrap="square" rtlCol="0" anchor="ctr"/>
          <a:lstStyle/>
          <a:p>
            <a:pPr indent="0" marL="0">
              <a:buNone/>
            </a:pPr>
            <a:r>
              <a:rPr lang="en-US" sz="1500" b="1" dirty="0">
                <a:solidFill>
                  <a:srgbClr val="0A5638"/>
                </a:solidFill>
                <a:latin typeface="Calibri" pitchFamily="34" charset="0"/>
                <a:ea typeface="Calibri" pitchFamily="34" charset="-122"/>
                <a:cs typeface="Calibri" pitchFamily="34" charset="-120"/>
              </a:rPr>
              <a:t>Audit Trail</a:t>
            </a:r>
            <a:endParaRPr lang="en-US" sz="1500" dirty="0"/>
          </a:p>
        </p:txBody>
      </p:sp>
      <p:sp>
        <p:nvSpPr>
          <p:cNvPr id="25" name="Text 23"/>
          <p:cNvSpPr/>
          <p:nvPr/>
        </p:nvSpPr>
        <p:spPr>
          <a:xfrm>
            <a:off x="6355080" y="3154680"/>
            <a:ext cx="237744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AuditLog untuk Admin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08  /  WORKFLOW</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08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Workflow Data</a:t>
            </a:r>
            <a:endParaRPr lang="en-US" sz="2600" dirty="0"/>
          </a:p>
        </p:txBody>
      </p:sp>
      <p:sp>
        <p:nvSpPr>
          <p:cNvPr id="8" name="Shape 6"/>
          <p:cNvSpPr/>
          <p:nvPr/>
        </p:nvSpPr>
        <p:spPr>
          <a:xfrm>
            <a:off x="640080" y="1234440"/>
            <a:ext cx="2377440" cy="1234440"/>
          </a:xfrm>
          <a:prstGeom prst="roundRect">
            <a:avLst>
              <a:gd name="adj" fmla="val 7407"/>
            </a:avLst>
          </a:prstGeom>
          <a:solidFill>
            <a:srgbClr val="FFFFFF"/>
          </a:solidFill>
          <a:ln w="19050">
            <a:solidFill>
              <a:srgbClr val="0A5638"/>
            </a:solidFill>
            <a:prstDash val="solid"/>
          </a:ln>
        </p:spPr>
      </p:sp>
      <p:sp>
        <p:nvSpPr>
          <p:cNvPr id="9" name="Text 7"/>
          <p:cNvSpPr/>
          <p:nvPr/>
        </p:nvSpPr>
        <p:spPr>
          <a:xfrm>
            <a:off x="640080" y="1508760"/>
            <a:ext cx="2377440" cy="731520"/>
          </a:xfrm>
          <a:prstGeom prst="rect">
            <a:avLst/>
          </a:prstGeom>
          <a:noFill/>
          <a:ln/>
        </p:spPr>
        <p:txBody>
          <a:bodyPr wrap="square" rtlCol="0" anchor="ctr"/>
          <a:lstStyle/>
          <a:p>
            <a:pPr algn="ctr" indent="0" marL="0">
              <a:buNone/>
            </a:pPr>
            <a:r>
              <a:rPr lang="en-US" sz="1800" b="1" dirty="0">
                <a:solidFill>
                  <a:srgbClr val="0A5638"/>
                </a:solidFill>
                <a:latin typeface="Calibri" pitchFamily="34" charset="0"/>
                <a:ea typeface="Calibri" pitchFamily="34" charset="-122"/>
                <a:cs typeface="Calibri" pitchFamily="34" charset="-120"/>
              </a:rPr>
              <a:t>DRAFT</a:t>
            </a:r>
            <a:endParaRPr lang="en-US" sz="1800" dirty="0"/>
          </a:p>
        </p:txBody>
      </p:sp>
      <p:sp>
        <p:nvSpPr>
          <p:cNvPr id="10" name="Text 8"/>
          <p:cNvSpPr/>
          <p:nvPr/>
        </p:nvSpPr>
        <p:spPr>
          <a:xfrm>
            <a:off x="2971800" y="1600200"/>
            <a:ext cx="457200" cy="457200"/>
          </a:xfrm>
          <a:prstGeom prst="rect">
            <a:avLst/>
          </a:prstGeom>
          <a:noFill/>
          <a:ln/>
        </p:spPr>
        <p:txBody>
          <a:bodyPr wrap="square" rtlCol="0" anchor="ctr"/>
          <a:lstStyle/>
          <a:p>
            <a:pPr algn="ctr" indent="0" marL="0">
              <a:buNone/>
            </a:pPr>
            <a:r>
              <a:rPr lang="en-US" sz="2400" dirty="0">
                <a:solidFill>
                  <a:srgbClr val="0A5638"/>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474720" y="1234440"/>
            <a:ext cx="2377440" cy="1234440"/>
          </a:xfrm>
          <a:prstGeom prst="roundRect">
            <a:avLst>
              <a:gd name="adj" fmla="val 7407"/>
            </a:avLst>
          </a:prstGeom>
          <a:solidFill>
            <a:srgbClr val="E2F0E8"/>
          </a:solidFill>
          <a:ln w="19050">
            <a:solidFill>
              <a:srgbClr val="0A5638"/>
            </a:solidFill>
            <a:prstDash val="solid"/>
          </a:ln>
        </p:spPr>
      </p:sp>
      <p:sp>
        <p:nvSpPr>
          <p:cNvPr id="12" name="Text 10"/>
          <p:cNvSpPr/>
          <p:nvPr/>
        </p:nvSpPr>
        <p:spPr>
          <a:xfrm>
            <a:off x="3474720" y="1508760"/>
            <a:ext cx="2377440" cy="731520"/>
          </a:xfrm>
          <a:prstGeom prst="rect">
            <a:avLst/>
          </a:prstGeom>
          <a:noFill/>
          <a:ln/>
        </p:spPr>
        <p:txBody>
          <a:bodyPr wrap="square" rtlCol="0" anchor="ctr"/>
          <a:lstStyle/>
          <a:p>
            <a:pPr algn="ctr" indent="0" marL="0">
              <a:buNone/>
            </a:pPr>
            <a:r>
              <a:rPr lang="en-US" sz="1800" b="1" dirty="0">
                <a:solidFill>
                  <a:srgbClr val="0A5638"/>
                </a:solidFill>
                <a:latin typeface="Calibri" pitchFamily="34" charset="0"/>
                <a:ea typeface="Calibri" pitchFamily="34" charset="-122"/>
                <a:cs typeface="Calibri" pitchFamily="34" charset="-120"/>
              </a:rPr>
              <a:t>PENDING</a:t>
            </a:r>
            <a:endParaRPr lang="en-US" sz="1800" dirty="0"/>
          </a:p>
          <a:p>
            <a:pPr algn="ctr" indent="0" marL="0">
              <a:buNone/>
            </a:pPr>
            <a:r>
              <a:rPr lang="en-US" sz="1800" b="1" dirty="0">
                <a:solidFill>
                  <a:srgbClr val="0A5638"/>
                </a:solidFill>
                <a:latin typeface="Calibri" pitchFamily="34" charset="0"/>
                <a:ea typeface="Calibri" pitchFamily="34" charset="-122"/>
                <a:cs typeface="Calibri" pitchFamily="34" charset="-120"/>
              </a:rPr>
              <a:t>REVIEW</a:t>
            </a:r>
            <a:endParaRPr lang="en-US" sz="1800" dirty="0"/>
          </a:p>
        </p:txBody>
      </p:sp>
      <p:sp>
        <p:nvSpPr>
          <p:cNvPr id="13" name="Text 11"/>
          <p:cNvSpPr/>
          <p:nvPr/>
        </p:nvSpPr>
        <p:spPr>
          <a:xfrm>
            <a:off x="5806440" y="1600200"/>
            <a:ext cx="457200" cy="457200"/>
          </a:xfrm>
          <a:prstGeom prst="rect">
            <a:avLst/>
          </a:prstGeom>
          <a:noFill/>
          <a:ln/>
        </p:spPr>
        <p:txBody>
          <a:bodyPr wrap="square" rtlCol="0" anchor="ctr"/>
          <a:lstStyle/>
          <a:p>
            <a:pPr algn="ctr" indent="0" marL="0">
              <a:buNone/>
            </a:pPr>
            <a:r>
              <a:rPr lang="en-US" sz="2400" dirty="0">
                <a:solidFill>
                  <a:srgbClr val="0A5638"/>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309360" y="1234440"/>
            <a:ext cx="2377440" cy="1234440"/>
          </a:xfrm>
          <a:prstGeom prst="roundRect">
            <a:avLst>
              <a:gd name="adj" fmla="val 7407"/>
            </a:avLst>
          </a:prstGeom>
          <a:solidFill>
            <a:srgbClr val="0A5638"/>
          </a:solidFill>
          <a:ln w="19050">
            <a:solidFill>
              <a:srgbClr val="0A5638"/>
            </a:solidFill>
            <a:prstDash val="solid"/>
          </a:ln>
        </p:spPr>
      </p:sp>
      <p:sp>
        <p:nvSpPr>
          <p:cNvPr id="15" name="Text 13"/>
          <p:cNvSpPr/>
          <p:nvPr/>
        </p:nvSpPr>
        <p:spPr>
          <a:xfrm>
            <a:off x="6309360" y="1508760"/>
            <a:ext cx="2377440" cy="7315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PUBLISHED</a:t>
            </a:r>
            <a:endParaRPr lang="en-US" sz="1800" dirty="0"/>
          </a:p>
        </p:txBody>
      </p:sp>
      <p:sp>
        <p:nvSpPr>
          <p:cNvPr id="16" name="Shape 14"/>
          <p:cNvSpPr/>
          <p:nvPr/>
        </p:nvSpPr>
        <p:spPr>
          <a:xfrm>
            <a:off x="640080" y="2880360"/>
            <a:ext cx="7863840" cy="1234440"/>
          </a:xfrm>
          <a:prstGeom prst="roundRect">
            <a:avLst>
              <a:gd name="adj" fmla="val 5926"/>
            </a:avLst>
          </a:prstGeom>
          <a:solidFill>
            <a:srgbClr val="FFFFFF"/>
          </a:solidFill>
          <a:ln w="12700">
            <a:solidFill>
              <a:srgbClr val="D5E0D9"/>
            </a:solidFill>
            <a:prstDash val="solid"/>
          </a:ln>
        </p:spPr>
      </p:sp>
      <p:sp>
        <p:nvSpPr>
          <p:cNvPr id="17" name="Text 15"/>
          <p:cNvSpPr/>
          <p:nvPr/>
        </p:nvSpPr>
        <p:spPr>
          <a:xfrm>
            <a:off x="914400" y="3063240"/>
            <a:ext cx="7406640" cy="914400"/>
          </a:xfrm>
          <a:prstGeom prst="rect">
            <a:avLst/>
          </a:prstGeom>
          <a:noFill/>
          <a:ln/>
        </p:spPr>
        <p:txBody>
          <a:bodyPr wrap="square" rtlCol="0" anchor="ctr"/>
          <a:lstStyle/>
          <a:p>
            <a:pPr indent="0" marL="0">
              <a:buNone/>
            </a:pPr>
            <a:r>
              <a:rPr lang="en-US" sz="1400" dirty="0">
                <a:solidFill>
                  <a:srgbClr val="1C2421"/>
                </a:solidFill>
                <a:latin typeface="Calibri" pitchFamily="34" charset="0"/>
                <a:ea typeface="Calibri" pitchFamily="34" charset="-122"/>
                <a:cs typeface="Calibri" pitchFamily="34" charset="-120"/>
              </a:rPr>
              <a:t>REJECTED PATH</a:t>
            </a:r>
            <a:endParaRPr lang="en-US" sz="1400" dirty="0"/>
          </a:p>
          <a:p>
            <a:pPr indent="0" marL="0">
              <a:buNone/>
            </a:pPr>
            <a:r>
              <a:rPr lang="en-US" sz="1400" dirty="0">
                <a:solidFill>
                  <a:srgbClr val="1C2421"/>
                </a:solidFill>
                <a:latin typeface="Calibri" pitchFamily="34" charset="0"/>
                <a:ea typeface="Calibri" pitchFamily="34" charset="-122"/>
                <a:cs typeface="Calibri" pitchFamily="34" charset="-120"/>
              </a:rPr>
              <a:t>PENDING REVIEW  →  REJECTED  →  EDIT  →  RESUBMIT</a:t>
            </a:r>
            <a:endParaRPr lang="en-US" sz="1400" dirty="0"/>
          </a:p>
          <a:p>
            <a:pPr indent="0" marL="0">
              <a:buNone/>
            </a:pPr>
            <a:r>
              <a:rPr lang="en-US" sz="1400" dirty="0">
                <a:solidFill>
                  <a:srgbClr val="1C2421"/>
                </a:solidFill>
                <a:latin typeface="Calibri" pitchFamily="34" charset="0"/>
                <a:ea typeface="Calibri" pitchFamily="34" charset="-122"/>
                <a:cs typeface="Calibri" pitchFamily="34" charset="-120"/>
              </a:rPr>
              <a:t>Draft / Pending / Rejected tidak mengubah dashboard publik.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09  /  PENGUJIAN</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09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Pengujian</a:t>
            </a:r>
            <a:endParaRPr lang="en-US" sz="2600" dirty="0"/>
          </a:p>
        </p:txBody>
      </p:sp>
      <p:sp>
        <p:nvSpPr>
          <p:cNvPr id="8" name="Shape 6"/>
          <p:cNvSpPr/>
          <p:nvPr/>
        </p:nvSpPr>
        <p:spPr>
          <a:xfrm>
            <a:off x="457200" y="1143000"/>
            <a:ext cx="2743200" cy="1828800"/>
          </a:xfrm>
          <a:prstGeom prst="roundRect">
            <a:avLst>
              <a:gd name="adj" fmla="val 5000"/>
            </a:avLst>
          </a:prstGeom>
          <a:solidFill>
            <a:srgbClr val="0A5638"/>
          </a:solidFill>
          <a:ln w="12700">
            <a:solidFill>
              <a:srgbClr val="D5E0D9"/>
            </a:solidFill>
            <a:prstDash val="solid"/>
          </a:ln>
        </p:spPr>
      </p:sp>
      <p:sp>
        <p:nvSpPr>
          <p:cNvPr id="9" name="Text 7"/>
          <p:cNvSpPr/>
          <p:nvPr/>
        </p:nvSpPr>
        <p:spPr>
          <a:xfrm>
            <a:off x="457200" y="1554480"/>
            <a:ext cx="27432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44 / 44</a:t>
            </a:r>
            <a:endParaRPr lang="en-US" sz="2800" dirty="0"/>
          </a:p>
        </p:txBody>
      </p:sp>
      <p:sp>
        <p:nvSpPr>
          <p:cNvPr id="10" name="Text 8"/>
          <p:cNvSpPr/>
          <p:nvPr/>
        </p:nvSpPr>
        <p:spPr>
          <a:xfrm>
            <a:off x="594360" y="2331720"/>
            <a:ext cx="2468880" cy="365760"/>
          </a:xfrm>
          <a:prstGeom prst="rect">
            <a:avLst/>
          </a:prstGeom>
          <a:noFill/>
          <a:ln/>
        </p:spPr>
        <p:txBody>
          <a:bodyPr wrap="square" rtlCol="0" anchor="ctr"/>
          <a:lstStyle/>
          <a:p>
            <a:pPr algn="ctr" indent="0" marL="0">
              <a:buNone/>
            </a:pPr>
            <a:r>
              <a:rPr lang="en-US" sz="1200" dirty="0">
                <a:solidFill>
                  <a:srgbClr val="D7EBE1"/>
                </a:solidFill>
                <a:latin typeface="Calibri" pitchFamily="34" charset="0"/>
                <a:ea typeface="Calibri" pitchFamily="34" charset="-122"/>
                <a:cs typeface="Calibri" pitchFamily="34" charset="-120"/>
              </a:rPr>
              <a:t>AUTOMATED TESTS</a:t>
            </a:r>
            <a:endParaRPr lang="en-US" sz="1200" dirty="0"/>
          </a:p>
        </p:txBody>
      </p:sp>
      <p:sp>
        <p:nvSpPr>
          <p:cNvPr id="11" name="Shape 9"/>
          <p:cNvSpPr/>
          <p:nvPr/>
        </p:nvSpPr>
        <p:spPr>
          <a:xfrm>
            <a:off x="3337560" y="1143000"/>
            <a:ext cx="2743200" cy="1828800"/>
          </a:xfrm>
          <a:prstGeom prst="roundRect">
            <a:avLst>
              <a:gd name="adj" fmla="val 5000"/>
            </a:avLst>
          </a:prstGeom>
          <a:solidFill>
            <a:srgbClr val="0A5638"/>
          </a:solidFill>
          <a:ln w="12700">
            <a:solidFill>
              <a:srgbClr val="D5E0D9"/>
            </a:solidFill>
            <a:prstDash val="solid"/>
          </a:ln>
        </p:spPr>
      </p:sp>
      <p:sp>
        <p:nvSpPr>
          <p:cNvPr id="12" name="Text 10"/>
          <p:cNvSpPr/>
          <p:nvPr/>
        </p:nvSpPr>
        <p:spPr>
          <a:xfrm>
            <a:off x="3337560" y="1554480"/>
            <a:ext cx="27432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64 / 64</a:t>
            </a:r>
            <a:endParaRPr lang="en-US" sz="2800" dirty="0"/>
          </a:p>
        </p:txBody>
      </p:sp>
      <p:sp>
        <p:nvSpPr>
          <p:cNvPr id="13" name="Text 11"/>
          <p:cNvSpPr/>
          <p:nvPr/>
        </p:nvSpPr>
        <p:spPr>
          <a:xfrm>
            <a:off x="3474720" y="2331720"/>
            <a:ext cx="2468880" cy="365760"/>
          </a:xfrm>
          <a:prstGeom prst="rect">
            <a:avLst/>
          </a:prstGeom>
          <a:noFill/>
          <a:ln/>
        </p:spPr>
        <p:txBody>
          <a:bodyPr wrap="square" rtlCol="0" anchor="ctr"/>
          <a:lstStyle/>
          <a:p>
            <a:pPr algn="ctr" indent="0" marL="0">
              <a:buNone/>
            </a:pPr>
            <a:r>
              <a:rPr lang="en-US" sz="1200" dirty="0">
                <a:solidFill>
                  <a:srgbClr val="D7EBE1"/>
                </a:solidFill>
                <a:latin typeface="Calibri" pitchFamily="34" charset="0"/>
                <a:ea typeface="Calibri" pitchFamily="34" charset="-122"/>
                <a:cs typeface="Calibri" pitchFamily="34" charset="-120"/>
              </a:rPr>
              <a:t>BROWSER QA</a:t>
            </a:r>
            <a:endParaRPr lang="en-US" sz="1200" dirty="0"/>
          </a:p>
        </p:txBody>
      </p:sp>
      <p:sp>
        <p:nvSpPr>
          <p:cNvPr id="14" name="Shape 12"/>
          <p:cNvSpPr/>
          <p:nvPr/>
        </p:nvSpPr>
        <p:spPr>
          <a:xfrm>
            <a:off x="6217920" y="1143000"/>
            <a:ext cx="2743200" cy="1828800"/>
          </a:xfrm>
          <a:prstGeom prst="roundRect">
            <a:avLst>
              <a:gd name="adj" fmla="val 5000"/>
            </a:avLst>
          </a:prstGeom>
          <a:solidFill>
            <a:srgbClr val="FFFFFF"/>
          </a:solidFill>
          <a:ln w="12700">
            <a:solidFill>
              <a:srgbClr val="D5E0D9"/>
            </a:solidFill>
            <a:prstDash val="solid"/>
          </a:ln>
        </p:spPr>
      </p:sp>
      <p:sp>
        <p:nvSpPr>
          <p:cNvPr id="15" name="Text 13"/>
          <p:cNvSpPr/>
          <p:nvPr/>
        </p:nvSpPr>
        <p:spPr>
          <a:xfrm>
            <a:off x="6217920" y="1554480"/>
            <a:ext cx="2743200" cy="640080"/>
          </a:xfrm>
          <a:prstGeom prst="rect">
            <a:avLst/>
          </a:prstGeom>
          <a:noFill/>
          <a:ln/>
        </p:spPr>
        <p:txBody>
          <a:bodyPr wrap="square" rtlCol="0" anchor="ctr"/>
          <a:lstStyle/>
          <a:p>
            <a:pPr algn="ctr" indent="0" marL="0">
              <a:buNone/>
            </a:pPr>
            <a:r>
              <a:rPr lang="en-US" sz="2800" b="1" dirty="0">
                <a:solidFill>
                  <a:srgbClr val="0A5638"/>
                </a:solidFill>
                <a:latin typeface="Calibri" pitchFamily="34" charset="0"/>
                <a:ea typeface="Calibri" pitchFamily="34" charset="-122"/>
                <a:cs typeface="Calibri" pitchFamily="34" charset="-120"/>
              </a:rPr>
              <a:t>PASS</a:t>
            </a:r>
            <a:endParaRPr lang="en-US" sz="2800" dirty="0"/>
          </a:p>
        </p:txBody>
      </p:sp>
      <p:sp>
        <p:nvSpPr>
          <p:cNvPr id="16" name="Text 14"/>
          <p:cNvSpPr/>
          <p:nvPr/>
        </p:nvSpPr>
        <p:spPr>
          <a:xfrm>
            <a:off x="6355080" y="2331720"/>
            <a:ext cx="2468880" cy="365760"/>
          </a:xfrm>
          <a:prstGeom prst="rect">
            <a:avLst/>
          </a:prstGeom>
          <a:noFill/>
          <a:ln/>
        </p:spPr>
        <p:txBody>
          <a:bodyPr wrap="square" rtlCol="0" anchor="ctr"/>
          <a:lstStyle/>
          <a:p>
            <a:pPr algn="ctr" indent="0" marL="0">
              <a:buNone/>
            </a:pPr>
            <a:r>
              <a:rPr lang="en-US" sz="1200" dirty="0">
                <a:solidFill>
                  <a:srgbClr val="5A6B62"/>
                </a:solidFill>
                <a:latin typeface="Calibri" pitchFamily="34" charset="0"/>
                <a:ea typeface="Calibri" pitchFamily="34" charset="-122"/>
                <a:cs typeface="Calibri" pitchFamily="34" charset="-120"/>
              </a:rPr>
              <a:t>DATA · BUILD · TYPES</a:t>
            </a:r>
            <a:endParaRPr lang="en-US" sz="1200" dirty="0"/>
          </a:p>
        </p:txBody>
      </p:sp>
      <p:sp>
        <p:nvSpPr>
          <p:cNvPr id="17" name="Text 15"/>
          <p:cNvSpPr/>
          <p:nvPr/>
        </p:nvSpPr>
        <p:spPr>
          <a:xfrm>
            <a:off x="457200" y="3383280"/>
            <a:ext cx="8229600" cy="365760"/>
          </a:xfrm>
          <a:prstGeom prst="rect">
            <a:avLst/>
          </a:prstGeom>
          <a:noFill/>
          <a:ln/>
        </p:spPr>
        <p:txBody>
          <a:bodyPr wrap="square" rtlCol="0" anchor="ctr"/>
          <a:lstStyle/>
          <a:p>
            <a:pPr algn="ctr" indent="0" marL="0">
              <a:buNone/>
            </a:pPr>
            <a:r>
              <a:rPr lang="en-US" sz="1400" dirty="0">
                <a:solidFill>
                  <a:srgbClr val="1C2421"/>
                </a:solidFill>
                <a:latin typeface="Calibri" pitchFamily="34" charset="0"/>
                <a:ea typeface="Calibri" pitchFamily="34" charset="-122"/>
                <a:cs typeface="Calibri" pitchFamily="34" charset="-120"/>
              </a:rPr>
              <a:t>Functional  ·  Authorization  ·  Workflow  ·  Data Integrity  ·  Responsive</a:t>
            </a:r>
            <a:endParaRPr lang="en-US" sz="1400" dirty="0"/>
          </a:p>
        </p:txBody>
      </p:sp>
      <p:sp>
        <p:nvSpPr>
          <p:cNvPr id="18" name="Text 16"/>
          <p:cNvSpPr/>
          <p:nvPr/>
        </p:nvSpPr>
        <p:spPr>
          <a:xfrm>
            <a:off x="457200" y="3886200"/>
            <a:ext cx="8229600" cy="32004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Seluruh skenario yang dijalankan pada tahap validasi berstatus PASS.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10  /  HASIL</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10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Hasil &amp; Demonstrasi</a:t>
            </a:r>
            <a:endParaRPr lang="en-US" sz="2600" dirty="0"/>
          </a:p>
        </p:txBody>
      </p:sp>
      <p:sp>
        <p:nvSpPr>
          <p:cNvPr id="8" name="Shape 6"/>
          <p:cNvSpPr/>
          <p:nvPr/>
        </p:nvSpPr>
        <p:spPr>
          <a:xfrm>
            <a:off x="365760" y="1005840"/>
            <a:ext cx="4023360" cy="365760"/>
          </a:xfrm>
          <a:prstGeom prst="roundRect">
            <a:avLst>
              <a:gd name="adj" fmla="val 10000"/>
            </a:avLst>
          </a:prstGeom>
          <a:solidFill>
            <a:srgbClr val="E2F0E8"/>
          </a:solidFill>
          <a:ln/>
        </p:spPr>
      </p:sp>
      <p:sp>
        <p:nvSpPr>
          <p:cNvPr id="9" name="Text 7"/>
          <p:cNvSpPr/>
          <p:nvPr/>
        </p:nvSpPr>
        <p:spPr>
          <a:xfrm>
            <a:off x="365760" y="1051560"/>
            <a:ext cx="4023360" cy="274320"/>
          </a:xfrm>
          <a:prstGeom prst="rect">
            <a:avLst/>
          </a:prstGeom>
          <a:noFill/>
          <a:ln/>
        </p:spPr>
        <p:txBody>
          <a:bodyPr wrap="square" rtlCol="0" anchor="ctr"/>
          <a:lstStyle/>
          <a:p>
            <a:pPr algn="ctr" indent="0" marL="0">
              <a:buNone/>
            </a:pPr>
            <a:r>
              <a:rPr lang="en-US" sz="1200" b="1" dirty="0">
                <a:solidFill>
                  <a:srgbClr val="0A5638"/>
                </a:solidFill>
                <a:latin typeface="Calibri" pitchFamily="34" charset="0"/>
                <a:ea typeface="Calibri" pitchFamily="34" charset="-122"/>
                <a:cs typeface="Calibri" pitchFamily="34" charset="-120"/>
              </a:rPr>
              <a:t>BEFORE  ·  Draft / Pending</a:t>
            </a:r>
            <a:endParaRPr lang="en-US" sz="1200" dirty="0"/>
          </a:p>
        </p:txBody>
      </p:sp>
      <p:sp>
        <p:nvSpPr>
          <p:cNvPr id="10" name="Shape 8"/>
          <p:cNvSpPr/>
          <p:nvPr/>
        </p:nvSpPr>
        <p:spPr>
          <a:xfrm>
            <a:off x="4754880" y="1005840"/>
            <a:ext cx="4023360" cy="365760"/>
          </a:xfrm>
          <a:prstGeom prst="roundRect">
            <a:avLst>
              <a:gd name="adj" fmla="val 10000"/>
            </a:avLst>
          </a:prstGeom>
          <a:solidFill>
            <a:srgbClr val="0A5638"/>
          </a:solidFill>
          <a:ln/>
        </p:spPr>
      </p:sp>
      <p:sp>
        <p:nvSpPr>
          <p:cNvPr id="11" name="Text 9"/>
          <p:cNvSpPr/>
          <p:nvPr/>
        </p:nvSpPr>
        <p:spPr>
          <a:xfrm>
            <a:off x="4754880" y="1051560"/>
            <a:ext cx="402336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AFTER  ·  Published</a:t>
            </a:r>
            <a:endParaRPr lang="en-US" sz="1200" dirty="0"/>
          </a:p>
        </p:txBody>
      </p:sp>
      <p:pic>
        <p:nvPicPr>
          <p:cNvPr id="12" name="Image 0" descr="D:\Dashboard Indikator BPS\docs\guide-assets\06-pemutakhiran.png">    </p:cNvPr>
          <p:cNvPicPr>
            <a:picLocks noChangeAspect="1"/>
          </p:cNvPicPr>
          <p:nvPr/>
        </p:nvPicPr>
        <p:blipFill>
          <a:blip r:embed="rId1"/>
          <a:stretch>
            <a:fillRect/>
          </a:stretch>
        </p:blipFill>
        <p:spPr>
          <a:xfrm>
            <a:off x="365760" y="1508760"/>
            <a:ext cx="4023360" cy="2286000"/>
          </a:xfrm>
          <a:prstGeom prst="rect">
            <a:avLst/>
          </a:prstGeom>
        </p:spPr>
      </p:pic>
      <p:sp>
        <p:nvSpPr>
          <p:cNvPr id="13" name="Shape 10"/>
          <p:cNvSpPr/>
          <p:nvPr/>
        </p:nvSpPr>
        <p:spPr>
          <a:xfrm>
            <a:off x="365760" y="1508760"/>
            <a:ext cx="4023360" cy="2286000"/>
          </a:xfrm>
          <a:prstGeom prst="rect">
            <a:avLst/>
          </a:prstGeom>
          <a:ln w="12700">
            <a:solidFill>
              <a:srgbClr val="D5E0D9"/>
            </a:solidFill>
            <a:prstDash val="solid"/>
          </a:ln>
        </p:spPr>
      </p:sp>
      <p:pic>
        <p:nvPicPr>
          <p:cNvPr id="14" name="Image 1" descr="D:\Dashboard Indikator BPS\docs\guide-assets\02-dashboard.png">    </p:cNvPr>
          <p:cNvPicPr>
            <a:picLocks noChangeAspect="1"/>
          </p:cNvPicPr>
          <p:nvPr/>
        </p:nvPicPr>
        <p:blipFill>
          <a:blip r:embed="rId2"/>
          <a:stretch>
            <a:fillRect/>
          </a:stretch>
        </p:blipFill>
        <p:spPr>
          <a:xfrm>
            <a:off x="4754880" y="1508760"/>
            <a:ext cx="4023360" cy="2286000"/>
          </a:xfrm>
          <a:prstGeom prst="rect">
            <a:avLst/>
          </a:prstGeom>
        </p:spPr>
      </p:pic>
      <p:sp>
        <p:nvSpPr>
          <p:cNvPr id="15" name="Shape 11"/>
          <p:cNvSpPr/>
          <p:nvPr/>
        </p:nvSpPr>
        <p:spPr>
          <a:xfrm>
            <a:off x="4754880" y="1508760"/>
            <a:ext cx="4023360" cy="2286000"/>
          </a:xfrm>
          <a:prstGeom prst="rect">
            <a:avLst/>
          </a:prstGeom>
          <a:ln w="12700">
            <a:solidFill>
              <a:srgbClr val="D5E0D9"/>
            </a:solidFill>
            <a:prstDash val="solid"/>
          </a:ln>
        </p:spPr>
      </p:sp>
      <p:sp>
        <p:nvSpPr>
          <p:cNvPr id="16" name="Text 12"/>
          <p:cNvSpPr/>
          <p:nvPr/>
        </p:nvSpPr>
        <p:spPr>
          <a:xfrm>
            <a:off x="411480" y="3977640"/>
            <a:ext cx="832104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Draft tidak langsung tampil publik. Setelah Admin Setujui &amp; Publish, Observation diperbarui.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11  /  KEPUTUSAN</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11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Engineering Decisions</a:t>
            </a:r>
            <a:endParaRPr lang="en-US" sz="2600" dirty="0"/>
          </a:p>
        </p:txBody>
      </p:sp>
      <p:sp>
        <p:nvSpPr>
          <p:cNvPr id="8" name="Shape 6"/>
          <p:cNvSpPr/>
          <p:nvPr/>
        </p:nvSpPr>
        <p:spPr>
          <a:xfrm>
            <a:off x="457200" y="1097280"/>
            <a:ext cx="3657600" cy="502920"/>
          </a:xfrm>
          <a:prstGeom prst="roundRect">
            <a:avLst>
              <a:gd name="adj" fmla="val 10909"/>
            </a:avLst>
          </a:prstGeom>
          <a:solidFill>
            <a:srgbClr val="FFFFFF"/>
          </a:solidFill>
          <a:ln w="12700">
            <a:solidFill>
              <a:srgbClr val="D5E0D9"/>
            </a:solidFill>
            <a:prstDash val="solid"/>
          </a:ln>
        </p:spPr>
      </p:sp>
      <p:sp>
        <p:nvSpPr>
          <p:cNvPr id="9" name="Text 7"/>
          <p:cNvSpPr/>
          <p:nvPr/>
        </p:nvSpPr>
        <p:spPr>
          <a:xfrm>
            <a:off x="640080" y="1207008"/>
            <a:ext cx="3291840" cy="274320"/>
          </a:xfrm>
          <a:prstGeom prst="rect">
            <a:avLst/>
          </a:prstGeom>
          <a:noFill/>
          <a:ln/>
        </p:spPr>
        <p:txBody>
          <a:bodyPr wrap="square" rtlCol="0" anchor="ctr"/>
          <a:lstStyle/>
          <a:p>
            <a:pPr indent="0" marL="0">
              <a:buNone/>
            </a:pPr>
            <a:r>
              <a:rPr lang="en-US" sz="1400" dirty="0">
                <a:solidFill>
                  <a:srgbClr val="1C2421"/>
                </a:solidFill>
                <a:latin typeface="Calibri" pitchFamily="34" charset="0"/>
                <a:ea typeface="Calibri" pitchFamily="34" charset="-122"/>
                <a:cs typeface="Calibri" pitchFamily="34" charset="-120"/>
              </a:rPr>
              <a:t>Development Auth</a:t>
            </a:r>
            <a:endParaRPr lang="en-US" sz="1400" dirty="0"/>
          </a:p>
        </p:txBody>
      </p:sp>
      <p:sp>
        <p:nvSpPr>
          <p:cNvPr id="10" name="Text 8"/>
          <p:cNvSpPr/>
          <p:nvPr/>
        </p:nvSpPr>
        <p:spPr>
          <a:xfrm>
            <a:off x="4206240" y="1143000"/>
            <a:ext cx="640080" cy="365760"/>
          </a:xfrm>
          <a:prstGeom prst="rect">
            <a:avLst/>
          </a:prstGeom>
          <a:noFill/>
          <a:ln/>
        </p:spPr>
        <p:txBody>
          <a:bodyPr wrap="square" rtlCol="0" anchor="ctr"/>
          <a:lstStyle/>
          <a:p>
            <a:pPr algn="ctr" indent="0" marL="0">
              <a:buNone/>
            </a:pPr>
            <a:r>
              <a:rPr lang="en-US" sz="2000" dirty="0">
                <a:solidFill>
                  <a:srgbClr val="0A5638"/>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937760" y="1097280"/>
            <a:ext cx="3749040" cy="502920"/>
          </a:xfrm>
          <a:prstGeom prst="roundRect">
            <a:avLst>
              <a:gd name="adj" fmla="val 10909"/>
            </a:avLst>
          </a:prstGeom>
          <a:solidFill>
            <a:srgbClr val="E2F0E8"/>
          </a:solidFill>
          <a:ln/>
        </p:spPr>
      </p:sp>
      <p:sp>
        <p:nvSpPr>
          <p:cNvPr id="12" name="Text 10"/>
          <p:cNvSpPr/>
          <p:nvPr/>
        </p:nvSpPr>
        <p:spPr>
          <a:xfrm>
            <a:off x="5120640" y="1207008"/>
            <a:ext cx="3383280" cy="274320"/>
          </a:xfrm>
          <a:prstGeom prst="rect">
            <a:avLst/>
          </a:prstGeom>
          <a:noFill/>
          <a:ln/>
        </p:spPr>
        <p:txBody>
          <a:bodyPr wrap="square" rtlCol="0" anchor="ctr"/>
          <a:lstStyle/>
          <a:p>
            <a:pPr indent="0" marL="0">
              <a:buNone/>
            </a:pPr>
            <a:r>
              <a:rPr lang="en-US" sz="1400" b="1" dirty="0">
                <a:solidFill>
                  <a:srgbClr val="0A5638"/>
                </a:solidFill>
                <a:latin typeface="Calibri" pitchFamily="34" charset="0"/>
                <a:ea typeface="Calibri" pitchFamily="34" charset="-122"/>
                <a:cs typeface="Calibri" pitchFamily="34" charset="-120"/>
              </a:rPr>
              <a:t>Production SSO</a:t>
            </a:r>
            <a:endParaRPr lang="en-US" sz="1400" dirty="0"/>
          </a:p>
        </p:txBody>
      </p:sp>
      <p:sp>
        <p:nvSpPr>
          <p:cNvPr id="13" name="Shape 11"/>
          <p:cNvSpPr/>
          <p:nvPr/>
        </p:nvSpPr>
        <p:spPr>
          <a:xfrm>
            <a:off x="457200" y="1737360"/>
            <a:ext cx="3657600" cy="502920"/>
          </a:xfrm>
          <a:prstGeom prst="roundRect">
            <a:avLst>
              <a:gd name="adj" fmla="val 10909"/>
            </a:avLst>
          </a:prstGeom>
          <a:solidFill>
            <a:srgbClr val="FFFFFF"/>
          </a:solidFill>
          <a:ln w="12700">
            <a:solidFill>
              <a:srgbClr val="D5E0D9"/>
            </a:solidFill>
            <a:prstDash val="solid"/>
          </a:ln>
        </p:spPr>
      </p:sp>
      <p:sp>
        <p:nvSpPr>
          <p:cNvPr id="14" name="Text 12"/>
          <p:cNvSpPr/>
          <p:nvPr/>
        </p:nvSpPr>
        <p:spPr>
          <a:xfrm>
            <a:off x="640080" y="1847088"/>
            <a:ext cx="3291840" cy="274320"/>
          </a:xfrm>
          <a:prstGeom prst="rect">
            <a:avLst/>
          </a:prstGeom>
          <a:noFill/>
          <a:ln/>
        </p:spPr>
        <p:txBody>
          <a:bodyPr wrap="square" rtlCol="0" anchor="ctr"/>
          <a:lstStyle/>
          <a:p>
            <a:pPr indent="0" marL="0">
              <a:buNone/>
            </a:pPr>
            <a:r>
              <a:rPr lang="en-US" sz="1400" dirty="0">
                <a:solidFill>
                  <a:srgbClr val="1C2421"/>
                </a:solidFill>
                <a:latin typeface="Calibri" pitchFamily="34" charset="0"/>
                <a:ea typeface="Calibri" pitchFamily="34" charset="-122"/>
                <a:cs typeface="Calibri" pitchFamily="34" charset="-120"/>
              </a:rPr>
              <a:t>SQLite (local)</a:t>
            </a:r>
            <a:endParaRPr lang="en-US" sz="1400" dirty="0"/>
          </a:p>
        </p:txBody>
      </p:sp>
      <p:sp>
        <p:nvSpPr>
          <p:cNvPr id="15" name="Text 13"/>
          <p:cNvSpPr/>
          <p:nvPr/>
        </p:nvSpPr>
        <p:spPr>
          <a:xfrm>
            <a:off x="4206240" y="1783080"/>
            <a:ext cx="640080" cy="365760"/>
          </a:xfrm>
          <a:prstGeom prst="rect">
            <a:avLst/>
          </a:prstGeom>
          <a:noFill/>
          <a:ln/>
        </p:spPr>
        <p:txBody>
          <a:bodyPr wrap="square" rtlCol="0" anchor="ctr"/>
          <a:lstStyle/>
          <a:p>
            <a:pPr algn="ctr" indent="0" marL="0">
              <a:buNone/>
            </a:pPr>
            <a:r>
              <a:rPr lang="en-US" sz="2000" dirty="0">
                <a:solidFill>
                  <a:srgbClr val="0A5638"/>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4937760" y="1737360"/>
            <a:ext cx="3749040" cy="502920"/>
          </a:xfrm>
          <a:prstGeom prst="roundRect">
            <a:avLst>
              <a:gd name="adj" fmla="val 10909"/>
            </a:avLst>
          </a:prstGeom>
          <a:solidFill>
            <a:srgbClr val="E2F0E8"/>
          </a:solidFill>
          <a:ln/>
        </p:spPr>
      </p:sp>
      <p:sp>
        <p:nvSpPr>
          <p:cNvPr id="17" name="Text 15"/>
          <p:cNvSpPr/>
          <p:nvPr/>
        </p:nvSpPr>
        <p:spPr>
          <a:xfrm>
            <a:off x="5120640" y="1847088"/>
            <a:ext cx="3383280" cy="274320"/>
          </a:xfrm>
          <a:prstGeom prst="rect">
            <a:avLst/>
          </a:prstGeom>
          <a:noFill/>
          <a:ln/>
        </p:spPr>
        <p:txBody>
          <a:bodyPr wrap="square" rtlCol="0" anchor="ctr"/>
          <a:lstStyle/>
          <a:p>
            <a:pPr indent="0" marL="0">
              <a:buNone/>
            </a:pPr>
            <a:r>
              <a:rPr lang="en-US" sz="1400" b="1" dirty="0">
                <a:solidFill>
                  <a:srgbClr val="0A5638"/>
                </a:solidFill>
                <a:latin typeface="Calibri" pitchFamily="34" charset="0"/>
                <a:ea typeface="Calibri" pitchFamily="34" charset="-122"/>
                <a:cs typeface="Calibri" pitchFamily="34" charset="-120"/>
              </a:rPr>
              <a:t>PostgreSQL (production)</a:t>
            </a:r>
            <a:endParaRPr lang="en-US" sz="1400" dirty="0"/>
          </a:p>
        </p:txBody>
      </p:sp>
      <p:sp>
        <p:nvSpPr>
          <p:cNvPr id="18" name="Shape 16"/>
          <p:cNvSpPr/>
          <p:nvPr/>
        </p:nvSpPr>
        <p:spPr>
          <a:xfrm>
            <a:off x="457200" y="2377440"/>
            <a:ext cx="3657600" cy="502920"/>
          </a:xfrm>
          <a:prstGeom prst="roundRect">
            <a:avLst>
              <a:gd name="adj" fmla="val 10909"/>
            </a:avLst>
          </a:prstGeom>
          <a:solidFill>
            <a:srgbClr val="FFFFFF"/>
          </a:solidFill>
          <a:ln w="12700">
            <a:solidFill>
              <a:srgbClr val="D5E0D9"/>
            </a:solidFill>
            <a:prstDash val="solid"/>
          </a:ln>
        </p:spPr>
      </p:sp>
      <p:sp>
        <p:nvSpPr>
          <p:cNvPr id="19" name="Text 17"/>
          <p:cNvSpPr/>
          <p:nvPr/>
        </p:nvSpPr>
        <p:spPr>
          <a:xfrm>
            <a:off x="640080" y="2487168"/>
            <a:ext cx="3291840" cy="274320"/>
          </a:xfrm>
          <a:prstGeom prst="rect">
            <a:avLst/>
          </a:prstGeom>
          <a:noFill/>
          <a:ln/>
        </p:spPr>
        <p:txBody>
          <a:bodyPr wrap="square" rtlCol="0" anchor="ctr"/>
          <a:lstStyle/>
          <a:p>
            <a:pPr indent="0" marL="0">
              <a:buNone/>
            </a:pPr>
            <a:r>
              <a:rPr lang="en-US" sz="1400" dirty="0">
                <a:solidFill>
                  <a:srgbClr val="1C2421"/>
                </a:solidFill>
                <a:latin typeface="Calibri" pitchFamily="34" charset="0"/>
                <a:ea typeface="Calibri" pitchFamily="34" charset="-122"/>
                <a:cs typeface="Calibri" pitchFamily="34" charset="-120"/>
              </a:rPr>
              <a:t>Local Provider</a:t>
            </a:r>
            <a:endParaRPr lang="en-US" sz="1400" dirty="0"/>
          </a:p>
        </p:txBody>
      </p:sp>
      <p:sp>
        <p:nvSpPr>
          <p:cNvPr id="20" name="Text 18"/>
          <p:cNvSpPr/>
          <p:nvPr/>
        </p:nvSpPr>
        <p:spPr>
          <a:xfrm>
            <a:off x="4206240" y="2423160"/>
            <a:ext cx="640080" cy="365760"/>
          </a:xfrm>
          <a:prstGeom prst="rect">
            <a:avLst/>
          </a:prstGeom>
          <a:noFill/>
          <a:ln/>
        </p:spPr>
        <p:txBody>
          <a:bodyPr wrap="square" rtlCol="0" anchor="ctr"/>
          <a:lstStyle/>
          <a:p>
            <a:pPr algn="ctr" indent="0" marL="0">
              <a:buNone/>
            </a:pPr>
            <a:r>
              <a:rPr lang="en-US" sz="2000" dirty="0">
                <a:solidFill>
                  <a:srgbClr val="0A5638"/>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4937760" y="2377440"/>
            <a:ext cx="3749040" cy="502920"/>
          </a:xfrm>
          <a:prstGeom prst="roundRect">
            <a:avLst>
              <a:gd name="adj" fmla="val 10909"/>
            </a:avLst>
          </a:prstGeom>
          <a:solidFill>
            <a:srgbClr val="E2F0E8"/>
          </a:solidFill>
          <a:ln/>
        </p:spPr>
      </p:sp>
      <p:sp>
        <p:nvSpPr>
          <p:cNvPr id="22" name="Text 20"/>
          <p:cNvSpPr/>
          <p:nvPr/>
        </p:nvSpPr>
        <p:spPr>
          <a:xfrm>
            <a:off x="5120640" y="2487168"/>
            <a:ext cx="3383280" cy="274320"/>
          </a:xfrm>
          <a:prstGeom prst="rect">
            <a:avLst/>
          </a:prstGeom>
          <a:noFill/>
          <a:ln/>
        </p:spPr>
        <p:txBody>
          <a:bodyPr wrap="square" rtlCol="0" anchor="ctr"/>
          <a:lstStyle/>
          <a:p>
            <a:pPr indent="0" marL="0">
              <a:buNone/>
            </a:pPr>
            <a:r>
              <a:rPr lang="en-US" sz="1400" b="1" dirty="0">
                <a:solidFill>
                  <a:srgbClr val="0A5638"/>
                </a:solidFill>
                <a:latin typeface="Calibri" pitchFamily="34" charset="0"/>
                <a:ea typeface="Calibri" pitchFamily="34" charset="-122"/>
                <a:cs typeface="Calibri" pitchFamily="34" charset="-120"/>
              </a:rPr>
              <a:t>BPS WebAPI</a:t>
            </a:r>
            <a:endParaRPr lang="en-US" sz="1400" dirty="0"/>
          </a:p>
        </p:txBody>
      </p:sp>
      <p:sp>
        <p:nvSpPr>
          <p:cNvPr id="23" name="Shape 21"/>
          <p:cNvSpPr/>
          <p:nvPr/>
        </p:nvSpPr>
        <p:spPr>
          <a:xfrm>
            <a:off x="457200" y="3017520"/>
            <a:ext cx="3657600" cy="502920"/>
          </a:xfrm>
          <a:prstGeom prst="roundRect">
            <a:avLst>
              <a:gd name="adj" fmla="val 10909"/>
            </a:avLst>
          </a:prstGeom>
          <a:solidFill>
            <a:srgbClr val="FFFFFF"/>
          </a:solidFill>
          <a:ln w="12700">
            <a:solidFill>
              <a:srgbClr val="D5E0D9"/>
            </a:solidFill>
            <a:prstDash val="solid"/>
          </a:ln>
        </p:spPr>
      </p:sp>
      <p:sp>
        <p:nvSpPr>
          <p:cNvPr id="24" name="Text 22"/>
          <p:cNvSpPr/>
          <p:nvPr/>
        </p:nvSpPr>
        <p:spPr>
          <a:xfrm>
            <a:off x="640080" y="3127248"/>
            <a:ext cx="3291840" cy="274320"/>
          </a:xfrm>
          <a:prstGeom prst="rect">
            <a:avLst/>
          </a:prstGeom>
          <a:noFill/>
          <a:ln/>
        </p:spPr>
        <p:txBody>
          <a:bodyPr wrap="square" rtlCol="0" anchor="ctr"/>
          <a:lstStyle/>
          <a:p>
            <a:pPr indent="0" marL="0">
              <a:buNone/>
            </a:pPr>
            <a:r>
              <a:rPr lang="en-US" sz="1400" dirty="0">
                <a:solidFill>
                  <a:srgbClr val="1C2421"/>
                </a:solidFill>
                <a:latin typeface="Calibri" pitchFamily="34" charset="0"/>
                <a:ea typeface="Calibri" pitchFamily="34" charset="-122"/>
                <a:cs typeface="Calibri" pitchFamily="34" charset="-120"/>
              </a:rPr>
              <a:t>Placeholder Users</a:t>
            </a:r>
            <a:endParaRPr lang="en-US" sz="1400" dirty="0"/>
          </a:p>
        </p:txBody>
      </p:sp>
      <p:sp>
        <p:nvSpPr>
          <p:cNvPr id="25" name="Text 23"/>
          <p:cNvSpPr/>
          <p:nvPr/>
        </p:nvSpPr>
        <p:spPr>
          <a:xfrm>
            <a:off x="4206240" y="3063240"/>
            <a:ext cx="640080" cy="365760"/>
          </a:xfrm>
          <a:prstGeom prst="rect">
            <a:avLst/>
          </a:prstGeom>
          <a:noFill/>
          <a:ln/>
        </p:spPr>
        <p:txBody>
          <a:bodyPr wrap="square" rtlCol="0" anchor="ctr"/>
          <a:lstStyle/>
          <a:p>
            <a:pPr algn="ctr" indent="0" marL="0">
              <a:buNone/>
            </a:pPr>
            <a:r>
              <a:rPr lang="en-US" sz="2000" dirty="0">
                <a:solidFill>
                  <a:srgbClr val="0A5638"/>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4937760" y="3017520"/>
            <a:ext cx="3749040" cy="502920"/>
          </a:xfrm>
          <a:prstGeom prst="roundRect">
            <a:avLst>
              <a:gd name="adj" fmla="val 10909"/>
            </a:avLst>
          </a:prstGeom>
          <a:solidFill>
            <a:srgbClr val="E2F0E8"/>
          </a:solidFill>
          <a:ln/>
        </p:spPr>
      </p:sp>
      <p:sp>
        <p:nvSpPr>
          <p:cNvPr id="27" name="Text 25"/>
          <p:cNvSpPr/>
          <p:nvPr/>
        </p:nvSpPr>
        <p:spPr>
          <a:xfrm>
            <a:off x="5120640" y="3127248"/>
            <a:ext cx="3383280" cy="274320"/>
          </a:xfrm>
          <a:prstGeom prst="rect">
            <a:avLst/>
          </a:prstGeom>
          <a:noFill/>
          <a:ln/>
        </p:spPr>
        <p:txBody>
          <a:bodyPr wrap="square" rtlCol="0" anchor="ctr"/>
          <a:lstStyle/>
          <a:p>
            <a:pPr indent="0" marL="0">
              <a:buNone/>
            </a:pPr>
            <a:r>
              <a:rPr lang="en-US" sz="1400" b="1" dirty="0">
                <a:solidFill>
                  <a:srgbClr val="0A5638"/>
                </a:solidFill>
                <a:latin typeface="Calibri" pitchFamily="34" charset="0"/>
                <a:ea typeface="Calibri" pitchFamily="34" charset="-122"/>
                <a:cs typeface="Calibri" pitchFamily="34" charset="-120"/>
              </a:rPr>
              <a:t>Full user management</a:t>
            </a:r>
            <a:endParaRPr lang="en-US" sz="1400" dirty="0"/>
          </a:p>
        </p:txBody>
      </p:sp>
      <p:sp>
        <p:nvSpPr>
          <p:cNvPr id="28" name="Text 26"/>
          <p:cNvSpPr/>
          <p:nvPr/>
        </p:nvSpPr>
        <p:spPr>
          <a:xfrm>
            <a:off x="457200" y="3886200"/>
            <a:ext cx="8229600" cy="320040"/>
          </a:xfrm>
          <a:prstGeom prst="rect">
            <a:avLst/>
          </a:prstGeom>
          <a:noFill/>
          <a:ln/>
        </p:spPr>
        <p:txBody>
          <a:bodyPr wrap="square" rtlCol="0" anchor="ctr"/>
          <a:lstStyle/>
          <a:p>
            <a:pPr indent="0" marL="0">
              <a:buNone/>
            </a:pPr>
            <a:r>
              <a:rPr lang="en-US" sz="1300" dirty="0">
                <a:solidFill>
                  <a:srgbClr val="5A6B62"/>
                </a:solidFill>
                <a:latin typeface="Calibri" pitchFamily="34" charset="0"/>
                <a:ea typeface="Calibri" pitchFamily="34" charset="-122"/>
                <a:cs typeface="Calibri" pitchFamily="34" charset="-120"/>
              </a:rPr>
              <a:t>Architecture designed for future BPS integration.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AF8"/>
          </a:solidFill>
          <a:ln/>
        </p:spPr>
      </p:sp>
      <p:sp>
        <p:nvSpPr>
          <p:cNvPr id="3" name="Shape 1"/>
          <p:cNvSpPr/>
          <p:nvPr/>
        </p:nvSpPr>
        <p:spPr>
          <a:xfrm>
            <a:off x="0" y="0"/>
            <a:ext cx="9144000" cy="54864"/>
          </a:xfrm>
          <a:prstGeom prst="rect">
            <a:avLst/>
          </a:prstGeom>
          <a:solidFill>
            <a:srgbClr val="0A5638"/>
          </a:solidFill>
          <a:ln/>
        </p:spPr>
      </p:sp>
      <p:sp>
        <p:nvSpPr>
          <p:cNvPr id="4" name="Text 2"/>
          <p:cNvSpPr/>
          <p:nvPr/>
        </p:nvSpPr>
        <p:spPr>
          <a:xfrm>
            <a:off x="411480" y="164592"/>
            <a:ext cx="6583680" cy="201168"/>
          </a:xfrm>
          <a:prstGeom prst="rect">
            <a:avLst/>
          </a:prstGeom>
          <a:noFill/>
          <a:ln/>
        </p:spPr>
        <p:txBody>
          <a:bodyPr wrap="square" rtlCol="0" anchor="ctr"/>
          <a:lstStyle/>
          <a:p>
            <a:pPr indent="0" marL="0">
              <a:buNone/>
            </a:pPr>
            <a:r>
              <a:rPr lang="en-US" sz="900" b="1" dirty="0">
                <a:solidFill>
                  <a:srgbClr val="5A6B62"/>
                </a:solidFill>
                <a:latin typeface="Calibri" pitchFamily="34" charset="0"/>
                <a:ea typeface="Calibri" pitchFamily="34" charset="-122"/>
                <a:cs typeface="Calibri" pitchFamily="34" charset="-120"/>
              </a:rPr>
              <a:t>CAPSTONE PROJECT  ·  DASHBOARD INDIKATOR STRATEGIS</a:t>
            </a:r>
            <a:endParaRPr lang="en-US" sz="900" dirty="0"/>
          </a:p>
        </p:txBody>
      </p:sp>
      <p:sp>
        <p:nvSpPr>
          <p:cNvPr id="5" name="Text 3"/>
          <p:cNvSpPr/>
          <p:nvPr/>
        </p:nvSpPr>
        <p:spPr>
          <a:xfrm>
            <a:off x="6949440" y="164592"/>
            <a:ext cx="1783080" cy="201168"/>
          </a:xfrm>
          <a:prstGeom prst="rect">
            <a:avLst/>
          </a:prstGeom>
          <a:noFill/>
          <a:ln/>
        </p:spPr>
        <p:txBody>
          <a:bodyPr wrap="square" rtlCol="0" anchor="ctr"/>
          <a:lstStyle/>
          <a:p>
            <a:pPr algn="r" indent="0" marL="0">
              <a:buNone/>
            </a:pPr>
            <a:r>
              <a:rPr lang="en-US" sz="900" b="1" dirty="0">
                <a:solidFill>
                  <a:srgbClr val="0A5638"/>
                </a:solidFill>
                <a:latin typeface="Calibri" pitchFamily="34" charset="0"/>
                <a:ea typeface="Calibri" pitchFamily="34" charset="-122"/>
                <a:cs typeface="Calibri" pitchFamily="34" charset="-120"/>
              </a:rPr>
              <a:t>12  /  PENUTUP</a:t>
            </a:r>
            <a:endParaRPr lang="en-US" sz="900" dirty="0"/>
          </a:p>
        </p:txBody>
      </p:sp>
      <p:sp>
        <p:nvSpPr>
          <p:cNvPr id="6" name="Text 4"/>
          <p:cNvSpPr/>
          <p:nvPr/>
        </p:nvSpPr>
        <p:spPr>
          <a:xfrm>
            <a:off x="411480" y="4828032"/>
            <a:ext cx="8321040" cy="201168"/>
          </a:xfrm>
          <a:prstGeom prst="rect">
            <a:avLst/>
          </a:prstGeom>
          <a:noFill/>
          <a:ln/>
        </p:spPr>
        <p:txBody>
          <a:bodyPr wrap="square" rtlCol="0" anchor="ctr"/>
          <a:lstStyle/>
          <a:p>
            <a:pPr indent="0" marL="0">
              <a:buNone/>
            </a:pPr>
            <a:r>
              <a:rPr lang="en-US" sz="900" dirty="0">
                <a:solidFill>
                  <a:srgbClr val="5A6B62"/>
                </a:solidFill>
                <a:latin typeface="Calibri" pitchFamily="34" charset="0"/>
                <a:ea typeface="Calibri" pitchFamily="34" charset="-122"/>
                <a:cs typeface="Calibri" pitchFamily="34" charset="-120"/>
              </a:rPr>
              <a:t>BPS Lombok Tengah  ·  12 / 12</a:t>
            </a:r>
            <a:endParaRPr lang="en-US" sz="900" dirty="0"/>
          </a:p>
        </p:txBody>
      </p:sp>
      <p:sp>
        <p:nvSpPr>
          <p:cNvPr id="7" name="Text 5"/>
          <p:cNvSpPr/>
          <p:nvPr/>
        </p:nvSpPr>
        <p:spPr>
          <a:xfrm>
            <a:off x="411480" y="411480"/>
            <a:ext cx="8321040" cy="411480"/>
          </a:xfrm>
          <a:prstGeom prst="rect">
            <a:avLst/>
          </a:prstGeom>
          <a:noFill/>
          <a:ln/>
        </p:spPr>
        <p:txBody>
          <a:bodyPr wrap="square" rtlCol="0" anchor="ctr"/>
          <a:lstStyle/>
          <a:p>
            <a:pPr indent="0" marL="0">
              <a:buNone/>
            </a:pPr>
            <a:r>
              <a:rPr lang="en-US" sz="2600" b="1" dirty="0">
                <a:solidFill>
                  <a:srgbClr val="1C2421"/>
                </a:solidFill>
                <a:latin typeface="Calibri" pitchFamily="34" charset="0"/>
                <a:ea typeface="Calibri" pitchFamily="34" charset="-122"/>
                <a:cs typeface="Calibri" pitchFamily="34" charset="-120"/>
              </a:rPr>
              <a:t>Kesimpulan &amp; Rekomendasi</a:t>
            </a:r>
            <a:endParaRPr lang="en-US" sz="2600" dirty="0"/>
          </a:p>
        </p:txBody>
      </p:sp>
      <p:sp>
        <p:nvSpPr>
          <p:cNvPr id="8" name="Shape 6"/>
          <p:cNvSpPr/>
          <p:nvPr/>
        </p:nvSpPr>
        <p:spPr>
          <a:xfrm>
            <a:off x="457200" y="1097280"/>
            <a:ext cx="2743200" cy="1371600"/>
          </a:xfrm>
          <a:prstGeom prst="roundRect">
            <a:avLst>
              <a:gd name="adj" fmla="val 6667"/>
            </a:avLst>
          </a:prstGeom>
          <a:solidFill>
            <a:srgbClr val="FFFFFF"/>
          </a:solidFill>
          <a:ln w="12700">
            <a:solidFill>
              <a:srgbClr val="D5E0D9"/>
            </a:solidFill>
            <a:prstDash val="solid"/>
          </a:ln>
        </p:spPr>
      </p:sp>
      <p:sp>
        <p:nvSpPr>
          <p:cNvPr id="9" name="Text 7"/>
          <p:cNvSpPr/>
          <p:nvPr/>
        </p:nvSpPr>
        <p:spPr>
          <a:xfrm>
            <a:off x="457200" y="1371600"/>
            <a:ext cx="2743200" cy="365760"/>
          </a:xfrm>
          <a:prstGeom prst="rect">
            <a:avLst/>
          </a:prstGeom>
          <a:noFill/>
          <a:ln/>
        </p:spPr>
        <p:txBody>
          <a:bodyPr wrap="square" rtlCol="0" anchor="ctr"/>
          <a:lstStyle/>
          <a:p>
            <a:pPr algn="ctr" indent="0" marL="0">
              <a:buNone/>
            </a:pPr>
            <a:r>
              <a:rPr lang="en-US" sz="1800" b="1" dirty="0">
                <a:solidFill>
                  <a:srgbClr val="0A5638"/>
                </a:solidFill>
                <a:latin typeface="Calibri" pitchFamily="34" charset="0"/>
                <a:ea typeface="Calibri" pitchFamily="34" charset="-122"/>
                <a:cs typeface="Calibri" pitchFamily="34" charset="-120"/>
              </a:rPr>
              <a:t>BUILT</a:t>
            </a:r>
            <a:endParaRPr lang="en-US" sz="1800" dirty="0"/>
          </a:p>
        </p:txBody>
      </p:sp>
      <p:sp>
        <p:nvSpPr>
          <p:cNvPr id="10" name="Text 8"/>
          <p:cNvSpPr/>
          <p:nvPr/>
        </p:nvSpPr>
        <p:spPr>
          <a:xfrm>
            <a:off x="594360" y="1920240"/>
            <a:ext cx="2468880" cy="32004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Dashboard + workspace</a:t>
            </a:r>
            <a:endParaRPr lang="en-US" sz="1300" dirty="0"/>
          </a:p>
        </p:txBody>
      </p:sp>
      <p:sp>
        <p:nvSpPr>
          <p:cNvPr id="11" name="Shape 9"/>
          <p:cNvSpPr/>
          <p:nvPr/>
        </p:nvSpPr>
        <p:spPr>
          <a:xfrm>
            <a:off x="3337560" y="1097280"/>
            <a:ext cx="2743200" cy="1371600"/>
          </a:xfrm>
          <a:prstGeom prst="roundRect">
            <a:avLst>
              <a:gd name="adj" fmla="val 6667"/>
            </a:avLst>
          </a:prstGeom>
          <a:solidFill>
            <a:srgbClr val="FFFFFF"/>
          </a:solidFill>
          <a:ln w="12700">
            <a:solidFill>
              <a:srgbClr val="D5E0D9"/>
            </a:solidFill>
            <a:prstDash val="solid"/>
          </a:ln>
        </p:spPr>
      </p:sp>
      <p:sp>
        <p:nvSpPr>
          <p:cNvPr id="12" name="Text 10"/>
          <p:cNvSpPr/>
          <p:nvPr/>
        </p:nvSpPr>
        <p:spPr>
          <a:xfrm>
            <a:off x="3337560" y="1371600"/>
            <a:ext cx="2743200" cy="365760"/>
          </a:xfrm>
          <a:prstGeom prst="rect">
            <a:avLst/>
          </a:prstGeom>
          <a:noFill/>
          <a:ln/>
        </p:spPr>
        <p:txBody>
          <a:bodyPr wrap="square" rtlCol="0" anchor="ctr"/>
          <a:lstStyle/>
          <a:p>
            <a:pPr algn="ctr" indent="0" marL="0">
              <a:buNone/>
            </a:pPr>
            <a:r>
              <a:rPr lang="en-US" sz="1800" b="1" dirty="0">
                <a:solidFill>
                  <a:srgbClr val="0A5638"/>
                </a:solidFill>
                <a:latin typeface="Calibri" pitchFamily="34" charset="0"/>
                <a:ea typeface="Calibri" pitchFamily="34" charset="-122"/>
                <a:cs typeface="Calibri" pitchFamily="34" charset="-120"/>
              </a:rPr>
              <a:t>TESTED</a:t>
            </a:r>
            <a:endParaRPr lang="en-US" sz="1800" dirty="0"/>
          </a:p>
        </p:txBody>
      </p:sp>
      <p:sp>
        <p:nvSpPr>
          <p:cNvPr id="13" name="Text 11"/>
          <p:cNvSpPr/>
          <p:nvPr/>
        </p:nvSpPr>
        <p:spPr>
          <a:xfrm>
            <a:off x="3474720" y="1920240"/>
            <a:ext cx="2468880" cy="32004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44/44 · 64/64 PASS</a:t>
            </a:r>
            <a:endParaRPr lang="en-US" sz="1300" dirty="0"/>
          </a:p>
        </p:txBody>
      </p:sp>
      <p:sp>
        <p:nvSpPr>
          <p:cNvPr id="14" name="Shape 12"/>
          <p:cNvSpPr/>
          <p:nvPr/>
        </p:nvSpPr>
        <p:spPr>
          <a:xfrm>
            <a:off x="6217920" y="1097280"/>
            <a:ext cx="2743200" cy="1371600"/>
          </a:xfrm>
          <a:prstGeom prst="roundRect">
            <a:avLst>
              <a:gd name="adj" fmla="val 6667"/>
            </a:avLst>
          </a:prstGeom>
          <a:solidFill>
            <a:srgbClr val="0A5638"/>
          </a:solidFill>
          <a:ln w="12700">
            <a:solidFill>
              <a:srgbClr val="D5E0D9"/>
            </a:solidFill>
            <a:prstDash val="solid"/>
          </a:ln>
        </p:spPr>
      </p:sp>
      <p:sp>
        <p:nvSpPr>
          <p:cNvPr id="15" name="Text 13"/>
          <p:cNvSpPr/>
          <p:nvPr/>
        </p:nvSpPr>
        <p:spPr>
          <a:xfrm>
            <a:off x="6217920" y="1371600"/>
            <a:ext cx="2743200" cy="3657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READY</a:t>
            </a:r>
            <a:endParaRPr lang="en-US" sz="1800" dirty="0"/>
          </a:p>
        </p:txBody>
      </p:sp>
      <p:sp>
        <p:nvSpPr>
          <p:cNvPr id="16" name="Text 14"/>
          <p:cNvSpPr/>
          <p:nvPr/>
        </p:nvSpPr>
        <p:spPr>
          <a:xfrm>
            <a:off x="6355080" y="1920240"/>
            <a:ext cx="2468880" cy="320040"/>
          </a:xfrm>
          <a:prstGeom prst="rect">
            <a:avLst/>
          </a:prstGeom>
          <a:noFill/>
          <a:ln/>
        </p:spPr>
        <p:txBody>
          <a:bodyPr wrap="square" rtlCol="0" anchor="ctr"/>
          <a:lstStyle/>
          <a:p>
            <a:pPr algn="ctr" indent="0" marL="0">
              <a:buNone/>
            </a:pPr>
            <a:r>
              <a:rPr lang="en-US" sz="1300" dirty="0">
                <a:solidFill>
                  <a:srgbClr val="D7EBE1"/>
                </a:solidFill>
                <a:latin typeface="Calibri" pitchFamily="34" charset="0"/>
                <a:ea typeface="Calibri" pitchFamily="34" charset="-122"/>
                <a:cs typeface="Calibri" pitchFamily="34" charset="-120"/>
              </a:rPr>
              <a:t>For BPS integration</a:t>
            </a:r>
            <a:endParaRPr lang="en-US" sz="1300" dirty="0"/>
          </a:p>
        </p:txBody>
      </p:sp>
      <p:sp>
        <p:nvSpPr>
          <p:cNvPr id="17" name="Text 15"/>
          <p:cNvSpPr/>
          <p:nvPr/>
        </p:nvSpPr>
        <p:spPr>
          <a:xfrm>
            <a:off x="457200" y="2880360"/>
            <a:ext cx="8229600" cy="365760"/>
          </a:xfrm>
          <a:prstGeom prst="rect">
            <a:avLst/>
          </a:prstGeom>
          <a:noFill/>
          <a:ln/>
        </p:spPr>
        <p:txBody>
          <a:bodyPr wrap="square" rtlCol="0" anchor="ctr"/>
          <a:lstStyle/>
          <a:p>
            <a:pPr algn="ctr" indent="0" marL="0">
              <a:buNone/>
            </a:pPr>
            <a:r>
              <a:rPr lang="en-US" sz="1300" dirty="0">
                <a:solidFill>
                  <a:srgbClr val="1C2421"/>
                </a:solidFill>
                <a:latin typeface="Calibri" pitchFamily="34" charset="0"/>
                <a:ea typeface="Calibri" pitchFamily="34" charset="-122"/>
                <a:cs typeface="Calibri" pitchFamily="34" charset="-120"/>
              </a:rPr>
              <a:t>Lanjutan: SSO BPS  ·  WebAPI  ·  PostgreSQL  ·  hosting  ·  hardening  ·  modul pengguna</a:t>
            </a:r>
            <a:endParaRPr lang="en-US" sz="1300" dirty="0"/>
          </a:p>
        </p:txBody>
      </p:sp>
      <p:sp>
        <p:nvSpPr>
          <p:cNvPr id="18" name="Text 16"/>
          <p:cNvSpPr/>
          <p:nvPr/>
        </p:nvSpPr>
        <p:spPr>
          <a:xfrm>
            <a:off x="457200" y="3566160"/>
            <a:ext cx="8229600" cy="457200"/>
          </a:xfrm>
          <a:prstGeom prst="rect">
            <a:avLst/>
          </a:prstGeom>
          <a:noFill/>
          <a:ln/>
        </p:spPr>
        <p:txBody>
          <a:bodyPr wrap="square" rtlCol="0" anchor="ctr"/>
          <a:lstStyle/>
          <a:p>
            <a:pPr algn="ctr" indent="0" marL="0">
              <a:buNone/>
            </a:pPr>
            <a:r>
              <a:rPr lang="en-US" sz="2800" b="1" dirty="0">
                <a:solidFill>
                  <a:srgbClr val="0A5638"/>
                </a:solidFill>
                <a:latin typeface="Calibri" pitchFamily="34" charset="0"/>
                <a:ea typeface="Calibri" pitchFamily="34" charset="-122"/>
                <a:cs typeface="Calibri" pitchFamily="34" charset="-120"/>
              </a:rPr>
              <a:t>Terima kasih</a:t>
            </a:r>
            <a:endParaRPr lang="en-US" sz="2800" dirty="0"/>
          </a:p>
        </p:txBody>
      </p:sp>
      <p:sp>
        <p:nvSpPr>
          <p:cNvPr id="19" name="Text 17"/>
          <p:cNvSpPr/>
          <p:nvPr/>
        </p:nvSpPr>
        <p:spPr>
          <a:xfrm>
            <a:off x="457200" y="4023360"/>
            <a:ext cx="8229600" cy="274320"/>
          </a:xfrm>
          <a:prstGeom prst="rect">
            <a:avLst/>
          </a:prstGeom>
          <a:noFill/>
          <a:ln/>
        </p:spPr>
        <p:txBody>
          <a:bodyPr wrap="square" rtlCol="0" anchor="ctr"/>
          <a:lstStyle/>
          <a:p>
            <a:pPr algn="ctr" indent="0" marL="0">
              <a:buNone/>
            </a:pPr>
            <a:r>
              <a:rPr lang="en-US" sz="1300" dirty="0">
                <a:solidFill>
                  <a:srgbClr val="5A6B62"/>
                </a:solidFill>
                <a:latin typeface="Calibri" pitchFamily="34" charset="0"/>
                <a:ea typeface="Calibri" pitchFamily="34" charset="-122"/>
                <a:cs typeface="Calibri" pitchFamily="34" charset="-120"/>
              </a:rPr>
              <a:t>Siap menerima pertanyaan.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Dashboard Indikator Strategis — Capstone Presentation</dc:title>
  <dc:subject>STMIK Lombok 2026</dc:subject>
  <dc:creator>Capstone Project BPS Lombok Tengah</dc:creator>
  <cp:lastModifiedBy>Capstone Project BPS Lombok Tengah</cp:lastModifiedBy>
  <cp:revision>1</cp:revision>
  <dcterms:created xsi:type="dcterms:W3CDTF">2026-09-21T12:35:29Z</dcterms:created>
  <dcterms:modified xsi:type="dcterms:W3CDTF">2026-09-21T12:35:29Z</dcterms:modified>
</cp:coreProperties>
</file>